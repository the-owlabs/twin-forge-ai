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73" r:id="rId20"/>
    <p:sldId id="274" r:id="rId15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7.xml"/><Relationship Id="rId21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Relationship Id="rId6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Relationship Id="rId3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Relationship Id="rId1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750000"/>
            <a:ext cx="4572000" cy="5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05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520000"/>
            <a:ext cx="3611880" cy="135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 w="12700">
            <a:solidFill>
              <a:srgbClr val="D2E3FC"/>
            </a:solidFill>
          </a:ln>
        </p:spPr>
        <p:txBody>
          <a:bodyPr wrap="square" lIns="203200" tIns="177800" rIns="203200" bIns="1778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800"/>
              </a:spcAft>
              <a:buNone/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OUR PRINCIPLE</a:t>
            </a:r>
            <a:endParaRPr lang="en-GB" sz="950" dirty="0"/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Language models explain, extract and orchestrate.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Numbers come from configured rules.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02124"/>
                </a:solidFill>
                <a:latin typeface="Google Sans Flex"/>
              </a:rPr>
              <a:t>Suggestions come from the ontology.</a:t>
            </a:r>
          </a:p>
          <a:p>
            <a:pPr>
              <a:spcAft>
                <a:spcPts val="300"/>
              </a:spcAft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380000"/>
            <a:ext cx="4572000" cy="25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95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sz="1100" b="1">
                <a:solidFill>
                  <a:srgbClr val="1A73E8"/>
                </a:solidFill>
                <a:latin typeface="Google Sans Flex"/>
              </a:rPr>
              <a:t>See. Understand. Simulate. Act.</a:t>
            </a:r>
          </a:p>
          <a:p>
            <a:pPr>
              <a:lnSpc>
                <a:spcPct val="115000"/>
              </a:lnSpc>
            </a:pPr>
            <a:r>
              <a:rPr sz="950">
                <a:solidFill>
                  <a:srgbClr val="3C4043"/>
                </a:solidFill>
                <a:latin typeface="Google Sans Flex"/>
              </a:rPr>
              <a:t>Explore a live digital twin, investigate incidents with specialist AI agents, simulate alternative scenarios, and execute approved actions only after human authorization.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sz="1150">
                <a:solidFill>
                  <a:srgbClr val="3C4043"/>
                </a:solidFill>
                <a:latin typeface="Google Sans Flex"/>
              </a:rPr>
              <a:t>Models explain, configured rules compute, ontology suggests, people decide: every figure the AI states is checked against configured rules.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590000"/>
            <a:ext cx="2395728" cy="6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 sz="819">
                <a:solidFill>
                  <a:srgbClr val="5F6368"/>
                </a:solidFill>
                <a:latin typeface="Google Sans Flex"/>
              </a:defRPr>
            </a:pPr>
            <a:r>
              <a:rPr sz="950">
                <a:solidFill>
                  <a:srgbClr val="5F6368"/>
                </a:solidFill>
                <a:latin typeface="Google Sans Flex"/>
              </a:rPr>
              <a:t>Predictive Maintenance to anticipate equipment failures, Demand Forecasting to optimize production planning, and Supply Chain Intelligence to identify disruptions.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sp>
        <p:nvSpPr>
          <p:cNvPr id="1002" name="Architecture notes"/>
          <p:cNvSpPr txBox="1"/>
          <p:nvPr/>
        </p:nvSpPr>
        <p:spPr>
          <a:xfrm>
            <a:off x="5720000" y="1115568"/>
            <a:ext cx="3058240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  <p:pic>
        <p:nvPicPr>
          <p:cNvPr id="1003" name="Architecture diagram" descr="proposed_solution_architectu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1115568"/>
            <a:ext cx="5113625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 (1/2)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20000"/>
            <a:ext cx="4282000" cy="2851879"/>
          </a:xfrm>
          <a:prstGeom prst="rect">
            <a:avLst/>
          </a:prstGeom>
        </p:spPr>
      </p:pic>
      <p:pic>
        <p:nvPicPr>
          <p:cNvPr id="113" name="Picture 1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000" y="1420000"/>
            <a:ext cx="4282000" cy="285187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093562"/>
            <a:ext cx="9144000" cy="54275"/>
          </a:xfrm>
          <a:prstGeom prst="rect">
            <a:avLst/>
          </a:prstGeom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00000"/>
                </a:solidFill>
                <a:latin typeface="Google Sans Flex"/>
              </a:defRPr>
            </a:pPr>
            <a:r>
              <a:t>Architecture diagrams of individual features (2/2)</a:t>
            </a:r>
          </a:p>
        </p:txBody>
      </p:sp>
      <p:pic>
        <p:nvPicPr>
          <p:cNvPr id="112" name="Picture 1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000" y="1420000"/>
            <a:ext cx="4282000" cy="2851879"/>
          </a:xfrm>
          <a:prstGeom prst="rect">
            <a:avLst/>
          </a:prstGeom>
        </p:spPr>
      </p:pic>
      <p:pic>
        <p:nvPicPr>
          <p:cNvPr id="113" name="Picture 1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2000" y="1420000"/>
            <a:ext cx="4282000" cy="28518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  <p:sp>
        <p:nvSpPr>
          <p:cNvPr id="1109" name="Cloud SQL chip"/>
          <p:cNvSpPr/>
          <p:nvPr/>
        </p:nvSpPr>
        <p:spPr>
          <a:xfrm>
            <a:off x="7608305" y="2322576"/>
            <a:ext cx="1030000" cy="274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ADC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0" name="Cloud SQL logo" descr="cloud_sql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7718033" y="2377440"/>
            <a:ext cx="164592" cy="164592"/>
          </a:xfrm>
          <a:prstGeom prst="rect">
            <a:avLst/>
          </a:prstGeom>
        </p:spPr>
      </p:pic>
      <p:sp>
        <p:nvSpPr>
          <p:cNvPr id="1111" name="Cloud SQL label"/>
          <p:cNvSpPr txBox="1"/>
          <p:nvPr/>
        </p:nvSpPr>
        <p:spPr>
          <a:xfrm>
            <a:off x="7946633" y="2322576"/>
            <a:ext cx="600000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r>
              <a:rPr sz="1050" b="0">
                <a:solidFill>
                  <a:srgbClr val="202124"/>
                </a:solidFill>
                <a:latin typeface="Google Sans Flex Medium"/>
              </a:rPr>
              <a:t>Cloud SQL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4300000" cy="370000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00000" y="126000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491" y="134449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960000" y="1260000"/>
            <a:ext cx="3500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720000" y="1750000"/>
            <a:ext cx="3800000" cy="3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>
                <a:solidFill>
                  <a:srgbClr val="3C4043"/>
                </a:solidFill>
                <a:latin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>
                <a:solidFill>
                  <a:srgbClr val="3C4043"/>
                </a:solidFill>
                <a:latin typeface="Google Sans Flex"/>
              </a:rPr>
              <a:t>One factory per deployment; state is held per instance.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>
                <a:solidFill>
                  <a:srgbClr val="3C4043"/>
                </a:solidFill>
                <a:latin typeface="Google Sans Flex"/>
              </a:rPr>
              <a:t>Live telemetry arrives through Pub/Sub today; OPC UA, Modbus, and MQTT require an edge gateway.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>
                <a:solidFill>
                  <a:srgbClr val="3C4043"/>
                </a:solidFill>
                <a:latin typeface="Google Sans Flex"/>
              </a:rPr>
              <a:t>Camera footage in the demo is licensed video from other facilities.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Predictive Maintenance: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Demonstrates equipment health monitoring and failure-risk predictions using available sample data.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Supply Chain Intelligence: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Demonstrates supply chain visibility, disruption analysis, and recommendations using modelled data.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Demand Forecasting: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Generates demand forecasts and production planning recommendations based on sample data.</a:t>
            </a:r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35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Visual Quality Inspection: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Demonstrates AI-assisted defect detection and quality metrics; inspection results require validation against real production images before operational use.</a:t>
            </a:r>
          </a:p>
        </p:txBody>
      </p:sp>
      <p:sp>
        <p:nvSpPr>
          <p:cNvPr id="1006" name="Next title"/>
          <p:cNvSpPr txBox="1"/>
          <p:nvPr/>
        </p:nvSpPr>
        <p:spPr>
          <a:xfrm>
            <a:off x="4950000" y="1143000"/>
            <a:ext cx="3800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4950000" y="160000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6444" y="167644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5420000" y="1582000"/>
            <a:ext cx="345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4950000" y="225000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6444" y="232644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5420000" y="2232000"/>
            <a:ext cx="345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4950000" y="290000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6444" y="2976444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5420000" y="2882000"/>
            <a:ext cx="3450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2A Enterprise circle"/>
          <p:cNvSpPr/>
          <p:nvPr/>
        </p:nvSpPr>
        <p:spPr>
          <a:xfrm>
            <a:off x="4950000" y="355000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3" name="A2A Enterprise pic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6444" y="3626444"/>
            <a:ext cx="194584" cy="194584"/>
          </a:xfrm>
          <a:prstGeom prst="rect">
            <a:avLst/>
          </a:prstGeom>
        </p:spPr>
      </p:pic>
      <p:sp>
        <p:nvSpPr>
          <p:cNvPr id="1024" name="A2A Enterprise text"/>
          <p:cNvSpPr txBox="1"/>
          <p:nvPr/>
        </p:nvSpPr>
        <p:spPr>
          <a:xfrm>
            <a:off x="5420000" y="3532000"/>
            <a:ext cx="345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202124"/>
                </a:solidFill>
                <a:latin typeface="Google Sans Flex SemiBold"/>
              </a:rPr>
              <a:t>A2A Enterprise and Cloud Scheduler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F6368"/>
                </a:solidFill>
                <a:latin typeface="Google Sans Flex"/>
              </a:rPr>
              <a:t>Cloud Scheduler drives the plant clock, with no instance cap; an Agent-to-Agent (A2A) endpoint enables enterprise agents to communicate between factories.</a:t>
            </a:r>
          </a:p>
        </p:txBody>
      </p:sp>
      <p:sp>
        <p:nvSpPr>
          <p:cNvPr id="1025" name="Mobile app circle"/>
          <p:cNvSpPr/>
          <p:nvPr/>
        </p:nvSpPr>
        <p:spPr>
          <a:xfrm>
            <a:off x="4950000" y="420000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26" name="Mobile app pic" descr="tf_mobil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6444" y="4276444"/>
            <a:ext cx="194584" cy="194584"/>
          </a:xfrm>
          <a:prstGeom prst="rect">
            <a:avLst/>
          </a:prstGeom>
        </p:spPr>
      </p:pic>
      <p:sp>
        <p:nvSpPr>
          <p:cNvPr id="1027" name="Mobile app text"/>
          <p:cNvSpPr txBox="1"/>
          <p:nvPr/>
        </p:nvSpPr>
        <p:spPr>
          <a:xfrm>
            <a:off x="5420000" y="4182000"/>
            <a:ext cx="345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0">
                <a:solidFill>
                  <a:srgbClr val="202124"/>
                </a:solidFill>
                <a:latin typeface="Google Sans Flex SemiBold"/>
              </a:rPr>
              <a:t>Mobile app</a:t>
            </a:r>
          </a:p>
          <a:p>
            <a:pPr>
              <a:spcAft>
                <a:spcPts val="0"/>
              </a:spcAft>
            </a:pPr>
            <a:r>
              <a:rPr sz="900" b="0">
                <a:solidFill>
                  <a:srgbClr val="5F6368"/>
                </a:solidFill>
                <a:latin typeface="Google Sans Flex"/>
              </a:rPr>
              <a:t>A companion mobile app for plant teams, with real-time alerts and push notifications, on-the-go monitoring of machines and KPIs.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