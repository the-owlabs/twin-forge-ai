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750000"/>
            <a:ext cx="4572000" cy="5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rgbClr val="3C4043"/>
                </a:solidFill>
                <a:latin typeface="Google Sans Flex"/>
              </a:defRPr>
            </a:pPr>
            <a:r>
              <a:t>TwinForge AI is a Google Cloud-powered industrial digital twin that connects factory operations, AI agents, and deterministic simulation to help manufacturers predict, optimize, and act with confidence.</a:t>
            </a:r>
            <a:endParaRPr lang="en-GB" sz="12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520000"/>
            <a:ext cx="3611880" cy="1350000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 w="12700">
            <a:solidFill>
              <a:srgbClr val="D2E3FC"/>
            </a:solidFill>
          </a:ln>
        </p:spPr>
        <p:txBody>
          <a:bodyPr wrap="square" lIns="203200" tIns="177800" rIns="203200" bIns="17780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  <a:defRPr sz="1150" b="1">
                <a:solidFill>
                  <a:srgbClr val="1A73E8"/>
                </a:solidFill>
                <a:latin typeface="Google Sans Flex"/>
              </a:defRPr>
            </a:pPr>
            <a:r>
              <a:t>OUR PRINCIPLE</a:t>
            </a:r>
            <a:endParaRPr lang="en-GB" sz="950" dirty="0"/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Language models explain, extract and orchestrate.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Numbers come from configured rules.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Suggestions come from the ontology.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Decisions come from people.</a:t>
            </a:r>
          </a:p>
        </p:txBody>
      </p:sp>
      <p:sp>
        <p:nvSpPr>
          <p:cNvPr id="1015" name="Capabilities"/>
          <p:cNvSpPr txBox="1"/>
          <p:nvPr/>
        </p:nvSpPr>
        <p:spPr>
          <a:xfrm>
            <a:off x="365760" y="2380000"/>
            <a:ext cx="457200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A73E8"/>
                </a:solidFill>
                <a:latin typeface="Google Sans Flex"/>
              </a:defRPr>
            </a:pPr>
            <a:r>
              <a:t>Four intelligent capabilities.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Predictive Maintenance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Anticipate equipment failures before they disrupt production.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Demand Forecasting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Predict demand and optimize production plans.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Supply Chain Intelligence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Identify disruptions and optimize materials, inventory, and deliveries.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Visual Quality Inspection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Detect defects, improve first-pass yield, and reduce quality losses.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"/>
              </a:rPr>
              <a:t>See. Understand. Simulate. Act.</a:t>
            </a:r>
          </a:p>
          <a:p>
            <a:pPr>
              <a:lnSpc>
                <a:spcPct val="115000"/>
              </a:lnSpc>
            </a:pPr>
            <a:r>
              <a:rPr sz="950">
                <a:solidFill>
                  <a:srgbClr val="3C4043"/>
                </a:solidFill>
                <a:latin typeface="Google Sans Flex"/>
              </a:rPr>
              <a:t>Explore a live digital twin, investigate incidents with specialist AI agents, simulate alternative scenarios, and execute approved actions only after human authorization.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sz="1150">
                <a:solidFill>
                  <a:srgbClr val="3C4043"/>
                </a:solidFill>
                <a:latin typeface="Google Sans Flex"/>
              </a:rPr>
              <a:t>Models explain, configured rules compute, ontology suggests, people decide: every figure the AI states is checked against configured rules.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590000"/>
            <a:ext cx="2395728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19">
                <a:solidFill>
                  <a:srgbClr val="5F6368"/>
                </a:solidFill>
                <a:latin typeface="Google Sans Flex"/>
              </a:defRPr>
            </a:pPr>
            <a:r>
              <a:rPr sz="950">
                <a:solidFill>
                  <a:srgbClr val="5F6368"/>
                </a:solidFill>
                <a:latin typeface="Google Sans Flex"/>
              </a:rPr>
              <a:t>Predictive Maintenance to anticipate equipment failures, Demand Forecasting to optimize production planning, and Supply Chain Intelligence to identify disruptions.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pic>
        <p:nvPicPr>
          <p:cNvPr id="1001" name="Architecture diagram" descr="TwinForge AI on Google Cloud: system contex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15568"/>
            <a:ext cx="5898774" cy="3703320"/>
          </a:xfrm>
          <a:prstGeom prst="rect">
            <a:avLst/>
          </a:prstGeom>
        </p:spPr>
      </p:pic>
      <p:sp>
        <p:nvSpPr>
          <p:cNvPr id="1002" name="Architecture notes"/>
          <p:cNvSpPr txBox="1"/>
          <p:nvPr/>
        </p:nvSpPr>
        <p:spPr>
          <a:xfrm>
            <a:off x="6465702" y="1115568"/>
            <a:ext cx="2312538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3063240" cy="338328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141037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1024128" y="1325880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548640" y="1892808"/>
            <a:ext cx="2724912" cy="2788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factory per deployment; state is held per instance.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telemetry arrives through Pub/Sub today; OPC UA, Modbus and MQTT need an edge gateway.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Camera footage in the demo is licensed video of other facilities.</a:t>
            </a:r>
            <a:endParaRPr lang="en-GB" sz="1100" dirty="0"/>
          </a:p>
        </p:txBody>
      </p:sp>
      <p:sp>
        <p:nvSpPr>
          <p:cNvPr id="1006" name="Next title"/>
          <p:cNvSpPr txBox="1"/>
          <p:nvPr/>
        </p:nvSpPr>
        <p:spPr>
          <a:xfrm>
            <a:off x="3657600" y="114300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365760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4044" y="172236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411480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626364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084" y="172236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672084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3" name="Server-side clock circle"/>
          <p:cNvSpPr/>
          <p:nvPr/>
        </p:nvSpPr>
        <p:spPr>
          <a:xfrm>
            <a:off x="365760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4" name="Server-side cloc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4044" y="2783068"/>
            <a:ext cx="194584" cy="194584"/>
          </a:xfrm>
          <a:prstGeom prst="rect">
            <a:avLst/>
          </a:prstGeom>
        </p:spPr>
      </p:pic>
      <p:sp>
        <p:nvSpPr>
          <p:cNvPr id="1015" name="Server-side clock text"/>
          <p:cNvSpPr txBox="1"/>
          <p:nvPr/>
        </p:nvSpPr>
        <p:spPr>
          <a:xfrm>
            <a:off x="411480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Server-side clock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Scheduler drives the plant clock, with no instance cap.</a:t>
            </a:r>
            <a:endParaRPr lang="en-GB" sz="1050" dirty="0"/>
          </a:p>
        </p:txBody>
      </p:sp>
      <p:sp>
        <p:nvSpPr>
          <p:cNvPr id="1016" name="Smarter Twin Builder circle"/>
          <p:cNvSpPr/>
          <p:nvPr/>
        </p:nvSpPr>
        <p:spPr>
          <a:xfrm>
            <a:off x="626364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7" name="Smarter Twin Builder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084" y="2783068"/>
            <a:ext cx="194584" cy="194584"/>
          </a:xfrm>
          <a:prstGeom prst="rect">
            <a:avLst/>
          </a:prstGeom>
        </p:spPr>
      </p:pic>
      <p:sp>
        <p:nvSpPr>
          <p:cNvPr id="1018" name="Smarter Twin Builder text"/>
          <p:cNvSpPr txBox="1"/>
          <p:nvPr/>
        </p:nvSpPr>
        <p:spPr>
          <a:xfrm>
            <a:off x="672084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Smarter Twin Builder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self-correction loop on ADK; Agent Engine hosting for the Python agent.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365760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34044" y="3843772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411480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  <p:sp>
        <p:nvSpPr>
          <p:cNvPr id="1022" name="Agent-to-agent circle"/>
          <p:cNvSpPr/>
          <p:nvPr/>
        </p:nvSpPr>
        <p:spPr>
          <a:xfrm>
            <a:off x="626364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gent-to-agen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0084" y="3843772"/>
            <a:ext cx="194584" cy="194584"/>
          </a:xfrm>
          <a:prstGeom prst="rect">
            <a:avLst/>
          </a:prstGeom>
        </p:spPr>
      </p:pic>
      <p:sp>
        <p:nvSpPr>
          <p:cNvPr id="1024" name="Agent-to-agent text"/>
          <p:cNvSpPr txBox="1"/>
          <p:nvPr/>
        </p:nvSpPr>
        <p:spPr>
          <a:xfrm>
            <a:off x="672084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Agent-to-agent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A2A endpoint so enterprise agents can delegate work to TwinForge.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