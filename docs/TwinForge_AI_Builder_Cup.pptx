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3" r:id="rId13"/>
    <p:sldId id="264" r:id="rId14"/>
    <p:sldId id="266" r:id="rId16"/>
    <p:sldId id="272" r:id="rId28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tf_see.png"/><Relationship Id="rId5" Type="http://schemas.openxmlformats.org/officeDocument/2006/relationships/image" Target="../media/tf_understand.png"/><Relationship Id="rId6" Type="http://schemas.openxmlformats.org/officeDocument/2006/relationships/image" Target="../media/tf_decide.png"/><Relationship Id="rId7" Type="http://schemas.openxmlformats.org/officeDocument/2006/relationships/image" Target="../media/tf_01_twinforge_ai_landing_page_with_the_is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different.png"/><Relationship Id="rId6" Type="http://schemas.openxmlformats.org/officeDocument/2006/relationships/image" Target="../media/tf_solve.png"/><Relationship Id="rId7" Type="http://schemas.openxmlformats.org/officeDocument/2006/relationships/image" Target="../media/tf_usp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f1.png"/><Relationship Id="rId6" Type="http://schemas.openxmlformats.org/officeDocument/2006/relationships/image" Target="../media/tf_f2.png"/><Relationship Id="rId7" Type="http://schemas.openxmlformats.org/officeDocument/2006/relationships/image" Target="../media/tf_f3.png"/><Relationship Id="rId8" Type="http://schemas.openxmlformats.org/officeDocument/2006/relationships/image" Target="../media/tf_f4.png"/><Relationship Id="rId9" Type="http://schemas.openxmlformats.org/officeDocument/2006/relationships/image" Target="../media/tf_f5.png"/><Relationship Id="rId10" Type="http://schemas.openxmlformats.org/officeDocument/2006/relationships/image" Target="../media/tf_f6.png"/><Relationship Id="rId11" Type="http://schemas.openxmlformats.org/officeDocument/2006/relationships/image" Target="../media/tf_f7.png"/><Relationship Id="rId12" Type="http://schemas.openxmlformats.org/officeDocument/2006/relationships/image" Target="../media/tf_f8.png"/><Relationship Id="rId13" Type="http://schemas.openxmlformats.org/officeDocument/2006/relationships/image" Target="../media/tf_f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7_agentic_analysis_pipeline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3_twinforge_ai_on_google_cloud_system_c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stack_vertex_ai.png"/><Relationship Id="rId6" Type="http://schemas.openxmlformats.org/officeDocument/2006/relationships/image" Target="../media/tf_stack_google_gen_ai_sdk.png"/><Relationship Id="rId7" Type="http://schemas.openxmlformats.org/officeDocument/2006/relationships/image" Target="../media/tf_stack_adk.png"/><Relationship Id="rId8" Type="http://schemas.openxmlformats.org/officeDocument/2006/relationships/image" Target="../media/tf_stack_google_search_grounding.png"/><Relationship Id="rId9" Type="http://schemas.openxmlformats.org/officeDocument/2006/relationships/image" Target="../media/tf_stack_firebase_app_hosting.png"/><Relationship Id="rId10" Type="http://schemas.openxmlformats.org/officeDocument/2006/relationships/image" Target="../media/tf_stack_cloud_run.png"/><Relationship Id="rId11" Type="http://schemas.openxmlformats.org/officeDocument/2006/relationships/image" Target="../media/tf_gcp_cloud_build.png"/><Relationship Id="rId12" Type="http://schemas.openxmlformats.org/officeDocument/2006/relationships/image" Target="../media/tf_gcp_artifact_registry.png"/><Relationship Id="rId13" Type="http://schemas.openxmlformats.org/officeDocument/2006/relationships/image" Target="../media/tf_stack_secret_manager.png"/><Relationship Id="rId14" Type="http://schemas.openxmlformats.org/officeDocument/2006/relationships/image" Target="../media/tf_stack_cloud_storage.png"/><Relationship Id="rId15" Type="http://schemas.openxmlformats.org/officeDocument/2006/relationships/image" Target="../media/tf_gcp_iam.png"/><Relationship Id="rId16" Type="http://schemas.openxmlformats.org/officeDocument/2006/relationships/image" Target="../media/tf_stack_bigquery.png"/><Relationship Id="rId17" Type="http://schemas.openxmlformats.org/officeDocument/2006/relationships/image" Target="../media/tf_stack_pub_sub.png"/><Relationship Id="rId18" Type="http://schemas.openxmlformats.org/officeDocument/2006/relationships/image" Target="../media/tf_stack_next_js.png"/><Relationship Id="rId19" Type="http://schemas.openxmlformats.org/officeDocument/2006/relationships/image" Target="../media/tf_stack_react.png"/><Relationship Id="rId20" Type="http://schemas.openxmlformats.org/officeDocument/2006/relationships/image" Target="../media/tf_stack_typescript.png"/><Relationship Id="rId21" Type="http://schemas.openxmlformats.org/officeDocument/2006/relationships/image" Target="../media/tf_stack_tailwind_css.png"/><Relationship Id="rId22" Type="http://schemas.openxmlformats.org/officeDocument/2006/relationships/image" Target="../media/tf_stack_zod.png"/><Relationship Id="rId23" Type="http://schemas.openxmlformats.org/officeDocument/2006/relationships/image" Target="../media/tf_stack_node_js.png"/><Relationship Id="rId24" Type="http://schemas.openxmlformats.org/officeDocument/2006/relationships/image" Target="../media/tf_stack_three_js.png"/><Relationship Id="rId25" Type="http://schemas.openxmlformats.org/officeDocument/2006/relationships/image" Target="../media/tf_stack_python.png"/><Relationship Id="rId26" Type="http://schemas.openxmlformats.org/officeDocument/2006/relationships/image" Target="../media/tf_stack_fastapi.png"/><Relationship Id="rId27" Type="http://schemas.openxmlformats.org/officeDocument/2006/relationships/image" Target="../media/tf_stack_opencv.png"/><Relationship Id="rId28" Type="http://schemas.openxmlformats.org/officeDocument/2006/relationships/image" Target="../media/tf_stack_google_adk_mcp.png"/><Relationship Id="rId29" Type="http://schemas.openxmlformats.org/officeDocument/2006/relationships/image" Target="../media/tf_stack_vitest.png"/><Relationship Id="rId30" Type="http://schemas.openxmlformats.org/officeDocument/2006/relationships/image" Target="../media/tf_stack_playwright.png"/><Relationship Id="rId31" Type="http://schemas.openxmlformats.org/officeDocument/2006/relationships/image" Target="../media/tf_stack_pytest.png"/><Relationship Id="rId32" Type="http://schemas.openxmlformats.org/officeDocument/2006/relationships/image" Target="../media/tf_stack_github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2_factory_command_center_during_the_cri.jpg"/><Relationship Id="rId6" Type="http://schemas.openxmlformats.org/officeDocument/2006/relationships/image" Target="../media/tf_03_ai_operations_command_center_with_six.jpg"/><Relationship Id="rId7" Type="http://schemas.openxmlformats.org/officeDocument/2006/relationships/image" Target="../media/tf_04_what_if_twin_simulator_comparing_four.jpg"/><Relationship Id="rId8" Type="http://schemas.openxmlformats.org/officeDocument/2006/relationships/image" Target="../media/tf_05_3d_view_of_the_factory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7_approved_recommendation_executed_in_t.jpg"/><Relationship Id="rId6" Type="http://schemas.openxmlformats.org/officeDocument/2006/relationships/image" Target="../media/tf_09_visual_quality_page.jpg"/><Relationship Id="rId7" Type="http://schemas.openxmlformats.org/officeDocument/2006/relationships/image" Target="../media/tf_11_twin_builder_review_screen.jpg"/><Relationship Id="rId8" Type="http://schemas.openxmlformats.org/officeDocument/2006/relationships/image" Target="../media/tf_12_playground_with_rules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scope.png"/><Relationship Id="rId6" Type="http://schemas.openxmlformats.org/officeDocument/2006/relationships/image" Target="../media/tf_n1.png"/><Relationship Id="rId7" Type="http://schemas.openxmlformats.org/officeDocument/2006/relationships/image" Target="../media/tf_n2.png"/><Relationship Id="rId8" Type="http://schemas.openxmlformats.org/officeDocument/2006/relationships/image" Target="../media/tf_n3.png"/><Relationship Id="rId9" Type="http://schemas.openxmlformats.org/officeDocument/2006/relationships/image" Target="../media/tf_n4.png"/><Relationship Id="rId10" Type="http://schemas.openxmlformats.org/officeDocument/2006/relationships/image" Target="../media/tf_n5.png"/><Relationship Id="rId11" Type="http://schemas.openxmlformats.org/officeDocument/2006/relationships/image" Target="../media/tf_n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github.png"/><Relationship Id="rId6" Type="http://schemas.openxmlformats.org/officeDocument/2006/relationships/hyperlink" Target="https://github.com/The-OWLabs/twin-forge-ai" TargetMode="External"/><Relationship Id="rId7" Type="http://schemas.openxmlformats.org/officeDocument/2006/relationships/image" Target="../media/tf_video.png"/><Relationship Id="rId8" Type="http://schemas.openxmlformats.org/officeDocument/2006/relationships/image" Target="../media/tf_web.png"/><Relationship Id="rId9" Type="http://schemas.openxmlformats.org/officeDocument/2006/relationships/hyperlink" Target="https://twinforge--twin-forge.asia-southeast1.hosted.app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OWLabs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Chirag HS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Manufacturing: Intelligent Operations &amp; Industrial Efficiency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lang="en-GB" sz="1600" dirty="0"/>
          </a:p>
        </p:txBody>
      </p:sp>
      <p:sp>
        <p:nvSpPr>
          <p:cNvPr id="1001" name="Product name"/>
          <p:cNvSpPr txBox="1"/>
          <p:nvPr/>
        </p:nvSpPr>
        <p:spPr>
          <a:xfrm>
            <a:off x="365760" y="10698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TwinForge AI</a:t>
            </a:r>
            <a:endParaRPr lang="en-GB" sz="2200" dirty="0"/>
          </a:p>
        </p:txBody>
      </p:sp>
      <p:sp>
        <p:nvSpPr>
          <p:cNvPr id="1002" name="Tagline"/>
          <p:cNvSpPr txBox="1"/>
          <p:nvPr/>
        </p:nvSpPr>
        <p:spPr>
          <a:xfrm>
            <a:off x="36576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Your factory. Reimagined before reality.</a:t>
            </a:r>
            <a:endParaRPr lang="en-GB" sz="1300" dirty="0"/>
          </a:p>
        </p:txBody>
      </p:sp>
      <p:sp>
        <p:nvSpPr>
          <p:cNvPr id="1003" name="Summary"/>
          <p:cNvSpPr txBox="1"/>
          <p:nvPr/>
        </p:nvSpPr>
        <p:spPr>
          <a:xfrm>
            <a:off x="365760" y="1750000"/>
            <a:ext cx="4572000" cy="5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C4043"/>
                </a:solidFill>
                <a:latin typeface="Google Sans Flex"/>
              </a:defRPr>
            </a:pPr>
            <a:r>
              <a:t>TwinForge AI is a Google Cloud-powered industrial digital twin that connects factory operations, AI agents, and deterministic simulation to help manufacturers predict, optimize, and act with confidence.</a:t>
            </a:r>
            <a:endParaRPr lang="en-GB" sz="1200" dirty="0"/>
          </a:p>
        </p:txBody>
      </p:sp>
      <p:pic>
        <p:nvPicPr>
          <p:cNvPr id="1013" name="Landing screenshot" descr="TwinForge AI landing page with the isometric factory tw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1188720"/>
            <a:ext cx="3611880" cy="2258568"/>
          </a:xfrm>
          <a:prstGeom prst="roundRect">
            <a:avLst>
              <a:gd name="adj" fmla="val 2429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14" name="Principle"/>
          <p:cNvSpPr/>
          <p:nvPr/>
        </p:nvSpPr>
        <p:spPr>
          <a:xfrm>
            <a:off x="5166360" y="3520000"/>
            <a:ext cx="3611880" cy="1350000"/>
          </a:xfrm>
          <a:prstGeom prst="roundRect">
            <a:avLst>
              <a:gd name="adj" fmla="val 8196"/>
            </a:avLst>
          </a:prstGeom>
          <a:solidFill>
            <a:srgbClr val="E8F0FE"/>
          </a:solidFill>
          <a:ln w="12700">
            <a:solidFill>
              <a:srgbClr val="D2E3FC"/>
            </a:solidFill>
          </a:ln>
        </p:spPr>
        <p:txBody>
          <a:bodyPr wrap="square" lIns="203200" tIns="177800" rIns="203200" bIns="17780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OUR PRINCIPLE</a:t>
            </a:r>
            <a:endParaRPr lang="en-GB" sz="950" dirty="0"/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Language models explain, extract and orchestrate.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Numbers come from configured rules.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Suggestions come from the ontology.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A73E8"/>
                </a:solidFill>
                <a:latin typeface="Google Sans Flex"/>
              </a:rPr>
              <a:t>Decisions come from people.</a:t>
            </a:r>
          </a:p>
        </p:txBody>
      </p:sp>
      <p:sp>
        <p:nvSpPr>
          <p:cNvPr id="1015" name="Capabilities"/>
          <p:cNvSpPr txBox="1"/>
          <p:nvPr/>
        </p:nvSpPr>
        <p:spPr>
          <a:xfrm>
            <a:off x="365760" y="2380000"/>
            <a:ext cx="4572000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Four intelligent capabilities.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Predictive Maintenance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Anticipate equipment failures before they disrupt production.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Demand Forecasting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Predict demand and optimize production plans.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Supply Chain Intelligence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Identify disruptions and optimize materials, inventory, and deliveries.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Visual Quality Inspection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Detect defects, improve first-pass yield, and reduce quality losses.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See. Understand. Simulate. Act.</a:t>
            </a:r>
          </a:p>
          <a:p>
            <a:pPr>
              <a:lnSpc>
                <a:spcPct val="115000"/>
              </a:lnSpc>
            </a:pPr>
            <a:r>
              <a:rPr sz="950">
                <a:solidFill>
                  <a:srgbClr val="3C4043"/>
                </a:solidFill>
                <a:latin typeface="Google Sans Flex"/>
              </a:rPr>
              <a:t>Explore a live digital twin, investigate incidents with specialist AI agents, simulate alternative scenarios, and execute approved actions only after human authorization.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lang="en-GB" sz="1600" dirty="0"/>
          </a:p>
        </p:txBody>
      </p:sp>
      <p:sp>
        <p:nvSpPr>
          <p:cNvPr id="1001" name="Card 1"/>
          <p:cNvSpPr/>
          <p:nvPr/>
        </p:nvSpPr>
        <p:spPr>
          <a:xfrm>
            <a:off x="365760" y="1143000"/>
            <a:ext cx="2679192" cy="3474720"/>
          </a:xfrm>
          <a:prstGeom prst="roundRect">
            <a:avLst>
              <a:gd name="adj" fmla="val 341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How is it different? circle"/>
          <p:cNvSpPr/>
          <p:nvPr/>
        </p:nvSpPr>
        <p:spPr>
          <a:xfrm>
            <a:off x="548640" y="132588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How is it different?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1414394"/>
            <a:ext cx="225308" cy="225308"/>
          </a:xfrm>
          <a:prstGeom prst="rect">
            <a:avLst/>
          </a:prstGeom>
        </p:spPr>
      </p:pic>
      <p:sp>
        <p:nvSpPr>
          <p:cNvPr id="1004" name="Card 1 title"/>
          <p:cNvSpPr txBox="1"/>
          <p:nvPr/>
        </p:nvSpPr>
        <p:spPr>
          <a:xfrm>
            <a:off x="1042416" y="12984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is it different?</a:t>
            </a:r>
            <a:endParaRPr lang="en-GB" sz="1300" dirty="0"/>
          </a:p>
        </p:txBody>
      </p:sp>
      <p:sp>
        <p:nvSpPr>
          <p:cNvPr id="1005" name="Card 1 points"/>
          <p:cNvSpPr txBox="1"/>
          <p:nvPr/>
        </p:nvSpPr>
        <p:spPr>
          <a:xfrm>
            <a:off x="548640" y="1920240"/>
            <a:ext cx="2359152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 a monitoring dashboard: the twin simulates forward, so options are compared before the plant changes.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 a chatbot that guesses: agents compute every figure on a deterministic plant engine and show the evidence.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 months of modelling: the Twin Builder drafts a twin from a drawing and a plain-language description.</a:t>
            </a:r>
            <a:endParaRPr lang="en-GB" sz="1150" dirty="0"/>
          </a:p>
        </p:txBody>
      </p:sp>
      <p:sp>
        <p:nvSpPr>
          <p:cNvPr id="1006" name="Card 2"/>
          <p:cNvSpPr/>
          <p:nvPr/>
        </p:nvSpPr>
        <p:spPr>
          <a:xfrm>
            <a:off x="3232404" y="1143000"/>
            <a:ext cx="2679192" cy="3474720"/>
          </a:xfrm>
          <a:prstGeom prst="roundRect">
            <a:avLst>
              <a:gd name="adj" fmla="val 341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7" name="How will it solve the problem? circle"/>
          <p:cNvSpPr/>
          <p:nvPr/>
        </p:nvSpPr>
        <p:spPr>
          <a:xfrm>
            <a:off x="3415284" y="132588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How will it solve the problem?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798" y="1414394"/>
            <a:ext cx="225308" cy="225308"/>
          </a:xfrm>
          <a:prstGeom prst="rect">
            <a:avLst/>
          </a:prstGeom>
        </p:spPr>
      </p:pic>
      <p:sp>
        <p:nvSpPr>
          <p:cNvPr id="1009" name="Card 2 title"/>
          <p:cNvSpPr txBox="1"/>
          <p:nvPr/>
        </p:nvSpPr>
        <p:spPr>
          <a:xfrm>
            <a:off x="3909060" y="12984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solve the problem?</a:t>
            </a:r>
            <a:endParaRPr lang="en-GB" sz="1300" dirty="0"/>
          </a:p>
        </p:txBody>
      </p:sp>
      <p:sp>
        <p:nvSpPr>
          <p:cNvPr id="1010" name="Card 2 points"/>
          <p:cNvSpPr txBox="1"/>
          <p:nvPr/>
        </p:nvSpPr>
        <p:spPr>
          <a:xfrm>
            <a:off x="3415284" y="1920240"/>
            <a:ext cx="2359152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Today, health, quality, materials and orders sit in separate systems, and comparing options by hand takes hours.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TwinForge joins them in one live twin, predicts trouble early and ranks plans on delivery, cost, risk and sustainability.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crisis: the recommended plan avoids about 700 late units at about a quarter of the cost of carrying on (model estimates).</a:t>
            </a:r>
            <a:endParaRPr lang="en-GB" sz="1150" dirty="0"/>
          </a:p>
        </p:txBody>
      </p:sp>
      <p:sp>
        <p:nvSpPr>
          <p:cNvPr id="1011" name="Card 3"/>
          <p:cNvSpPr/>
          <p:nvPr/>
        </p:nvSpPr>
        <p:spPr>
          <a:xfrm>
            <a:off x="6099048" y="1143000"/>
            <a:ext cx="2679192" cy="3474720"/>
          </a:xfrm>
          <a:prstGeom prst="roundRect">
            <a:avLst>
              <a:gd name="adj" fmla="val 341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USP of the solution circle"/>
          <p:cNvSpPr/>
          <p:nvPr/>
        </p:nvSpPr>
        <p:spPr>
          <a:xfrm>
            <a:off x="6281928" y="132588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3" name="USP of the solution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442" y="1414394"/>
            <a:ext cx="225308" cy="225308"/>
          </a:xfrm>
          <a:prstGeom prst="rect">
            <a:avLst/>
          </a:prstGeom>
        </p:spPr>
      </p:pic>
      <p:sp>
        <p:nvSpPr>
          <p:cNvPr id="1014" name="Card 3 title"/>
          <p:cNvSpPr txBox="1"/>
          <p:nvPr/>
        </p:nvSpPr>
        <p:spPr>
          <a:xfrm>
            <a:off x="6775704" y="12984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solution</a:t>
            </a:r>
            <a:endParaRPr lang="en-GB" sz="1300" dirty="0"/>
          </a:p>
        </p:txBody>
      </p:sp>
      <p:sp>
        <p:nvSpPr>
          <p:cNvPr id="1015" name="Card 3 points"/>
          <p:cNvSpPr txBox="1"/>
          <p:nvPr/>
        </p:nvSpPr>
        <p:spPr>
          <a:xfrm>
            <a:off x="6281928" y="1920240"/>
            <a:ext cx="2359152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sz="1150">
                <a:solidFill>
                  <a:srgbClr val="3C4043"/>
                </a:solidFill>
                <a:latin typeface="Google Sans Flex"/>
              </a:rPr>
              <a:t>Models explain, configured rules compute, ontology suggests, people decide: every figure the AI states is checked against configured rules.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person approves every plan, with rollback and a full audit trail; there is no control path to equipment.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Open by design: the same 12 tools are served over MCP, so other agents can use the twin, and still only propose.</a:t>
            </a:r>
            <a:endParaRPr lang="en-GB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lang="en-GB" sz="1600" dirty="0"/>
          </a:p>
        </p:txBody>
      </p:sp>
      <p:sp>
        <p:nvSpPr>
          <p:cNvPr id="1001" name="Feature 1"/>
          <p:cNvSpPr/>
          <p:nvPr/>
        </p:nvSpPr>
        <p:spPr>
          <a:xfrm>
            <a:off x="365760" y="109728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Command Center circle"/>
          <p:cNvSpPr/>
          <p:nvPr/>
        </p:nvSpPr>
        <p:spPr>
          <a:xfrm>
            <a:off x="512064" y="12344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Command Center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" y="1314907"/>
            <a:ext cx="204826" cy="204826"/>
          </a:xfrm>
          <a:prstGeom prst="rect">
            <a:avLst/>
          </a:prstGeom>
        </p:spPr>
      </p:pic>
      <p:sp>
        <p:nvSpPr>
          <p:cNvPr id="1004" name="Feature 1 title"/>
          <p:cNvSpPr txBox="1"/>
          <p:nvPr/>
        </p:nvSpPr>
        <p:spPr>
          <a:xfrm>
            <a:off x="969264" y="121615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Command Center</a:t>
            </a:r>
            <a:endParaRPr lang="en-GB" sz="1250" dirty="0"/>
          </a:p>
        </p:txBody>
      </p:sp>
      <p:sp>
        <p:nvSpPr>
          <p:cNvPr id="1005" name="Feature 1 text"/>
          <p:cNvSpPr txBox="1"/>
          <p:nvPr/>
        </p:nvSpPr>
        <p:spPr>
          <a:xfrm>
            <a:off x="512064" y="166420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OEE, output, machine health, energy, scrap, shortages and delivery risk on one screen.</a:t>
            </a:r>
            <a:endParaRPr lang="en-GB" sz="1050" dirty="0"/>
          </a:p>
        </p:txBody>
      </p:sp>
      <p:sp>
        <p:nvSpPr>
          <p:cNvPr id="1006" name="Feature 2"/>
          <p:cNvSpPr/>
          <p:nvPr/>
        </p:nvSpPr>
        <p:spPr>
          <a:xfrm>
            <a:off x="3232404" y="109728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7" name="AI Operations circle"/>
          <p:cNvSpPr/>
          <p:nvPr/>
        </p:nvSpPr>
        <p:spPr>
          <a:xfrm>
            <a:off x="3378708" y="12344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AI Operations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175" y="1314907"/>
            <a:ext cx="204826" cy="204826"/>
          </a:xfrm>
          <a:prstGeom prst="rect">
            <a:avLst/>
          </a:prstGeom>
        </p:spPr>
      </p:pic>
      <p:sp>
        <p:nvSpPr>
          <p:cNvPr id="1009" name="Feature 2 title"/>
          <p:cNvSpPr txBox="1"/>
          <p:nvPr/>
        </p:nvSpPr>
        <p:spPr>
          <a:xfrm>
            <a:off x="3835908" y="121615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Operations</a:t>
            </a:r>
            <a:endParaRPr lang="en-GB" sz="1250" dirty="0"/>
          </a:p>
        </p:txBody>
      </p:sp>
      <p:sp>
        <p:nvSpPr>
          <p:cNvPr id="1010" name="Feature 2 text"/>
          <p:cNvSpPr txBox="1"/>
          <p:nvPr/>
        </p:nvSpPr>
        <p:spPr>
          <a:xfrm>
            <a:off x="3378708" y="1610000"/>
            <a:ext cx="2395728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9">
                <a:solidFill>
                  <a:srgbClr val="5F6368"/>
                </a:solidFill>
                <a:latin typeface="Google Sans Flex"/>
              </a:defRPr>
            </a:pPr>
            <a:r>
              <a:t>Predictive Maintenance to anticipate equipment failures, Demand Forecasting to optimize production planning, Supply Chain Intelligence to identify disruptions, and Visual Quality Inspection to detect defects and improve quality.</a:t>
            </a:r>
            <a:endParaRPr lang="en-GB" sz="1050" dirty="0"/>
          </a:p>
        </p:txBody>
      </p:sp>
      <p:sp>
        <p:nvSpPr>
          <p:cNvPr id="1011" name="Feature 3"/>
          <p:cNvSpPr/>
          <p:nvPr/>
        </p:nvSpPr>
        <p:spPr>
          <a:xfrm>
            <a:off x="6099048" y="109728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What-If Simulator circle"/>
          <p:cNvSpPr/>
          <p:nvPr/>
        </p:nvSpPr>
        <p:spPr>
          <a:xfrm>
            <a:off x="6245352" y="12344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3" name="What-If Simulator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5819" y="1314907"/>
            <a:ext cx="204826" cy="204826"/>
          </a:xfrm>
          <a:prstGeom prst="rect">
            <a:avLst/>
          </a:prstGeom>
        </p:spPr>
      </p:pic>
      <p:sp>
        <p:nvSpPr>
          <p:cNvPr id="1014" name="Feature 3 title"/>
          <p:cNvSpPr txBox="1"/>
          <p:nvPr/>
        </p:nvSpPr>
        <p:spPr>
          <a:xfrm>
            <a:off x="6702552" y="121615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What-If Simulator</a:t>
            </a:r>
            <a:endParaRPr lang="en-GB" sz="1250" dirty="0"/>
          </a:p>
        </p:txBody>
      </p:sp>
      <p:sp>
        <p:nvSpPr>
          <p:cNvPr id="1015" name="Feature 3 text"/>
          <p:cNvSpPr txBox="1"/>
          <p:nvPr/>
        </p:nvSpPr>
        <p:spPr>
          <a:xfrm>
            <a:off x="6245352" y="166420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plans on more than ten levers; results recalculate instantly in the browser.</a:t>
            </a:r>
            <a:endParaRPr lang="en-GB" sz="1050" dirty="0"/>
          </a:p>
        </p:txBody>
      </p:sp>
      <p:sp>
        <p:nvSpPr>
          <p:cNvPr id="1016" name="Feature 4"/>
          <p:cNvSpPr/>
          <p:nvPr/>
        </p:nvSpPr>
        <p:spPr>
          <a:xfrm>
            <a:off x="365760" y="237744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7" name="Digital Twin Studio circle"/>
          <p:cNvSpPr/>
          <p:nvPr/>
        </p:nvSpPr>
        <p:spPr>
          <a:xfrm>
            <a:off x="512064" y="25146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8" name="Digital Twin Studio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531" y="2595067"/>
            <a:ext cx="204826" cy="204826"/>
          </a:xfrm>
          <a:prstGeom prst="rect">
            <a:avLst/>
          </a:prstGeom>
        </p:spPr>
      </p:pic>
      <p:sp>
        <p:nvSpPr>
          <p:cNvPr id="1019" name="Feature 4 title"/>
          <p:cNvSpPr txBox="1"/>
          <p:nvPr/>
        </p:nvSpPr>
        <p:spPr>
          <a:xfrm>
            <a:off x="969264" y="24963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Digital Twin Studio</a:t>
            </a:r>
            <a:endParaRPr lang="en-GB" sz="1250" dirty="0"/>
          </a:p>
        </p:txBody>
      </p:sp>
      <p:sp>
        <p:nvSpPr>
          <p:cNvPr id="1020" name="Feature 4 text"/>
          <p:cNvSpPr txBox="1"/>
          <p:nvPr/>
        </p:nvSpPr>
        <p:spPr>
          <a:xfrm>
            <a:off x="512064" y="294436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Topology, isometric, floor-plan and real-time 3D views of one live twin.</a:t>
            </a:r>
            <a:endParaRPr lang="en-GB" sz="1050" dirty="0"/>
          </a:p>
        </p:txBody>
      </p:sp>
      <p:sp>
        <p:nvSpPr>
          <p:cNvPr id="1021" name="Feature 5"/>
          <p:cNvSpPr/>
          <p:nvPr/>
        </p:nvSpPr>
        <p:spPr>
          <a:xfrm>
            <a:off x="3232404" y="237744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2" name="Approvals and audit circle"/>
          <p:cNvSpPr/>
          <p:nvPr/>
        </p:nvSpPr>
        <p:spPr>
          <a:xfrm>
            <a:off x="3378708" y="25146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23" name="Approvals and audit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9175" y="2595067"/>
            <a:ext cx="204826" cy="204826"/>
          </a:xfrm>
          <a:prstGeom prst="rect">
            <a:avLst/>
          </a:prstGeom>
        </p:spPr>
      </p:pic>
      <p:sp>
        <p:nvSpPr>
          <p:cNvPr id="1024" name="Feature 5 title"/>
          <p:cNvSpPr txBox="1"/>
          <p:nvPr/>
        </p:nvSpPr>
        <p:spPr>
          <a:xfrm>
            <a:off x="3835908" y="24963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Approvals and audit</a:t>
            </a:r>
            <a:endParaRPr lang="en-GB" sz="1250" dirty="0"/>
          </a:p>
        </p:txBody>
      </p:sp>
      <p:sp>
        <p:nvSpPr>
          <p:cNvPr id="1025" name="Feature 5 text"/>
          <p:cNvSpPr txBox="1"/>
          <p:nvPr/>
        </p:nvSpPr>
        <p:spPr>
          <a:xfrm>
            <a:off x="3378708" y="294436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person approves, the twin executes, and every step is recorded and reversible.</a:t>
            </a:r>
            <a:endParaRPr lang="en-GB" sz="1050" dirty="0"/>
          </a:p>
        </p:txBody>
      </p:sp>
      <p:sp>
        <p:nvSpPr>
          <p:cNvPr id="1026" name="Feature 6"/>
          <p:cNvSpPr/>
          <p:nvPr/>
        </p:nvSpPr>
        <p:spPr>
          <a:xfrm>
            <a:off x="6099048" y="237744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7" name="Visual Quality and CCTV circle"/>
          <p:cNvSpPr/>
          <p:nvPr/>
        </p:nvSpPr>
        <p:spPr>
          <a:xfrm>
            <a:off x="6245352" y="25146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28" name="Visual Quality and CCTV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5819" y="2595067"/>
            <a:ext cx="204826" cy="204826"/>
          </a:xfrm>
          <a:prstGeom prst="rect">
            <a:avLst/>
          </a:prstGeom>
        </p:spPr>
      </p:pic>
      <p:sp>
        <p:nvSpPr>
          <p:cNvPr id="1029" name="Feature 6 title"/>
          <p:cNvSpPr txBox="1"/>
          <p:nvPr/>
        </p:nvSpPr>
        <p:spPr>
          <a:xfrm>
            <a:off x="6702552" y="24963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Visual Quality and CCTV</a:t>
            </a:r>
            <a:endParaRPr lang="en-GB" sz="1250" dirty="0"/>
          </a:p>
        </p:txBody>
      </p:sp>
      <p:sp>
        <p:nvSpPr>
          <p:cNvPr id="1030" name="Feature 6 text"/>
          <p:cNvSpPr txBox="1"/>
          <p:nvPr/>
        </p:nvSpPr>
        <p:spPr>
          <a:xfrm>
            <a:off x="6245352" y="294436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FPY, DPMO and defect Pareto, nine cameras, and AI visual checks a person confirms.</a:t>
            </a:r>
            <a:endParaRPr lang="en-GB" sz="1050" dirty="0"/>
          </a:p>
        </p:txBody>
      </p:sp>
      <p:sp>
        <p:nvSpPr>
          <p:cNvPr id="1031" name="Feature 7"/>
          <p:cNvSpPr/>
          <p:nvPr/>
        </p:nvSpPr>
        <p:spPr>
          <a:xfrm>
            <a:off x="365760" y="365760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32" name="Twin Builder circle"/>
          <p:cNvSpPr/>
          <p:nvPr/>
        </p:nvSpPr>
        <p:spPr>
          <a:xfrm>
            <a:off x="512064" y="379476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33" name="Twin Builder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" y="3875227"/>
            <a:ext cx="204826" cy="204826"/>
          </a:xfrm>
          <a:prstGeom prst="rect">
            <a:avLst/>
          </a:prstGeom>
        </p:spPr>
      </p:pic>
      <p:sp>
        <p:nvSpPr>
          <p:cNvPr id="1034" name="Feature 7 title"/>
          <p:cNvSpPr txBox="1"/>
          <p:nvPr/>
        </p:nvSpPr>
        <p:spPr>
          <a:xfrm>
            <a:off x="969264" y="377647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Twin Builder</a:t>
            </a:r>
            <a:endParaRPr lang="en-GB" sz="1250" dirty="0"/>
          </a:p>
        </p:txBody>
      </p:sp>
      <p:sp>
        <p:nvSpPr>
          <p:cNvPr id="1035" name="Feature 7 text"/>
          <p:cNvSpPr txBox="1"/>
          <p:nvPr/>
        </p:nvSpPr>
        <p:spPr>
          <a:xfrm>
            <a:off x="512064" y="422452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From a floor plan and a description to a running twin, with provenance on every element.</a:t>
            </a:r>
            <a:endParaRPr lang="en-GB" sz="1050" dirty="0"/>
          </a:p>
        </p:txBody>
      </p:sp>
      <p:sp>
        <p:nvSpPr>
          <p:cNvPr id="1036" name="Feature 8"/>
          <p:cNvSpPr/>
          <p:nvPr/>
        </p:nvSpPr>
        <p:spPr>
          <a:xfrm>
            <a:off x="3232404" y="365760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37" name="Playground circle"/>
          <p:cNvSpPr/>
          <p:nvPr/>
        </p:nvSpPr>
        <p:spPr>
          <a:xfrm>
            <a:off x="3378708" y="379476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38" name="Playground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9175" y="3875227"/>
            <a:ext cx="204826" cy="204826"/>
          </a:xfrm>
          <a:prstGeom prst="rect">
            <a:avLst/>
          </a:prstGeom>
        </p:spPr>
      </p:pic>
      <p:sp>
        <p:nvSpPr>
          <p:cNvPr id="1039" name="Feature 8 title"/>
          <p:cNvSpPr txBox="1"/>
          <p:nvPr/>
        </p:nvSpPr>
        <p:spPr>
          <a:xfrm>
            <a:off x="3835908" y="377647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Playground</a:t>
            </a:r>
            <a:endParaRPr lang="en-GB" sz="1250" dirty="0"/>
          </a:p>
        </p:txBody>
      </p:sp>
      <p:sp>
        <p:nvSpPr>
          <p:cNvPr id="1040" name="Feature 8 text"/>
          <p:cNvSpPr txBox="1"/>
          <p:nvPr/>
        </p:nvSpPr>
        <p:spPr>
          <a:xfrm>
            <a:off x="3378708" y="422452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Drag machines and robots onto the floor, set automation rules, preview in 3D and apply.</a:t>
            </a:r>
            <a:endParaRPr lang="en-GB" sz="1050" dirty="0"/>
          </a:p>
        </p:txBody>
      </p:sp>
      <p:sp>
        <p:nvSpPr>
          <p:cNvPr id="1041" name="Feature 9"/>
          <p:cNvSpPr/>
          <p:nvPr/>
        </p:nvSpPr>
        <p:spPr>
          <a:xfrm>
            <a:off x="6099048" y="365760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42" name="Copilot on ADK + MCP circle"/>
          <p:cNvSpPr/>
          <p:nvPr/>
        </p:nvSpPr>
        <p:spPr>
          <a:xfrm>
            <a:off x="6245352" y="379476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43" name="Copilot on ADK + MCP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5819" y="3875227"/>
            <a:ext cx="204826" cy="204826"/>
          </a:xfrm>
          <a:prstGeom prst="rect">
            <a:avLst/>
          </a:prstGeom>
        </p:spPr>
      </p:pic>
      <p:sp>
        <p:nvSpPr>
          <p:cNvPr id="1044" name="Feature 9 title"/>
          <p:cNvSpPr txBox="1"/>
          <p:nvPr/>
        </p:nvSpPr>
        <p:spPr>
          <a:xfrm>
            <a:off x="6702552" y="377647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Copilot on ADK + MCP</a:t>
            </a:r>
            <a:endParaRPr lang="en-GB" sz="1250" dirty="0"/>
          </a:p>
        </p:txBody>
      </p:sp>
      <p:sp>
        <p:nvSpPr>
          <p:cNvPr id="1045" name="Feature 9 text"/>
          <p:cNvSpPr txBox="1"/>
          <p:nvPr/>
        </p:nvSpPr>
        <p:spPr>
          <a:xfrm>
            <a:off x="6245352" y="422452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Multi-agent copilot with visible tool calls; the same 12 tools are served over MCP.</a:t>
            </a:r>
            <a:endParaRPr lang="en-GB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lang="en-GB" sz="1600" dirty="0"/>
          </a:p>
        </p:txBody>
      </p:sp>
      <p:pic>
        <p:nvPicPr>
          <p:cNvPr id="1001" name="Process flow" descr="Agentic analysis pipeline: Observe, Investigate, Predict, Simulate, Recommend, Human approv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43000"/>
            <a:ext cx="8412480" cy="2934906"/>
          </a:xfrm>
          <a:prstGeom prst="rect">
            <a:avLst/>
          </a:prstGeom>
        </p:spPr>
      </p:pic>
      <p:sp>
        <p:nvSpPr>
          <p:cNvPr id="1002" name="After approval"/>
          <p:cNvSpPr txBox="1"/>
          <p:nvPr/>
        </p:nvSpPr>
        <p:spPr>
          <a:xfrm>
            <a:off x="365760" y="4233354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After approval</a:t>
            </a:r>
            <a:endParaRPr lang="en-GB" sz="1100" dirty="0"/>
          </a:p>
        </p:txBody>
      </p:sp>
      <p:sp>
        <p:nvSpPr>
          <p:cNvPr id="1003" name="Execute"/>
          <p:cNvSpPr/>
          <p:nvPr/>
        </p:nvSpPr>
        <p:spPr>
          <a:xfrm>
            <a:off x="1554480" y="4233354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188038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Execute  </a:t>
            </a:r>
            <a:r>
              <a:rPr lang="en-GB" sz="1050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twin runs the plan as directives over simulated time</a:t>
            </a:r>
            <a:endParaRPr lang="en-GB" sz="1050" dirty="0"/>
          </a:p>
        </p:txBody>
      </p:sp>
      <p:sp>
        <p:nvSpPr>
          <p:cNvPr id="1004" name="Arrow"/>
          <p:cNvSpPr/>
          <p:nvPr/>
        </p:nvSpPr>
        <p:spPr>
          <a:xfrm>
            <a:off x="4910328" y="4370514"/>
            <a:ext cx="201168" cy="182880"/>
          </a:xfrm>
          <a:prstGeom prst="rightArrow">
            <a:avLst/>
          </a:prstGeom>
          <a:solidFill>
            <a:srgbClr val="8086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5" name="Audit"/>
          <p:cNvSpPr/>
          <p:nvPr/>
        </p:nvSpPr>
        <p:spPr>
          <a:xfrm>
            <a:off x="5175504" y="4233354"/>
            <a:ext cx="3602736" cy="457200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 w="9525">
            <a:solidFill>
              <a:srgbClr val="80868B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Audit  </a:t>
            </a:r>
            <a:r>
              <a:rPr lang="en-GB" sz="1050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step recorded with links; any step can be rolled back</a:t>
            </a:r>
            <a:endParaRPr lang="en-GB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lang="en-GB" sz="1600" dirty="0"/>
          </a:p>
        </p:txBody>
      </p:sp>
      <p:pic>
        <p:nvPicPr>
          <p:cNvPr id="1001" name="Architecture diagram" descr="TwinForge AI on Google Cloud: system contex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15568"/>
            <a:ext cx="5898774" cy="3703320"/>
          </a:xfrm>
          <a:prstGeom prst="rect">
            <a:avLst/>
          </a:prstGeom>
        </p:spPr>
      </p:pic>
      <p:sp>
        <p:nvSpPr>
          <p:cNvPr id="1002" name="Architecture notes"/>
          <p:cNvSpPr txBox="1"/>
          <p:nvPr/>
        </p:nvSpPr>
        <p:spPr>
          <a:xfrm>
            <a:off x="6465702" y="1115568"/>
            <a:ext cx="2312538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One service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Next.js on Firebase App Hosting (Cloud Run) runs the UI, API, plant engine, ADK copilot and MCP server.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Vertex AI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3.5 Flash through Application Default Credentials, so no API keys.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Private vision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 + OpenCV on Cloud Run, called with Google-signed ID tokens.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Secure by default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Secret Manager, a private Cloud Storage bucket and least-privilege IAM.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Ready to scale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BigQuery and Pub/Sub adapters built in; runs in asia-southeast1.</a:t>
            </a:r>
            <a:endParaRPr lang="en-GB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lang="en-GB" sz="1600" dirty="0"/>
          </a:p>
        </p:txBody>
      </p:sp>
      <p:sp>
        <p:nvSpPr>
          <p:cNvPr id="1001" name="Vertex AI chip"/>
          <p:cNvSpPr/>
          <p:nvPr/>
        </p:nvSpPr>
        <p:spPr>
          <a:xfrm>
            <a:off x="1828800" y="1143000"/>
            <a:ext cx="188489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2" name="Vertex AI label"/>
          <p:cNvSpPr txBox="1"/>
          <p:nvPr/>
        </p:nvSpPr>
        <p:spPr>
          <a:xfrm>
            <a:off x="2167128" y="1143000"/>
            <a:ext cx="14734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Vertex AI</a:t>
            </a:r>
            <a:r>
              <a:rPr lang="en-GB" sz="9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 Gemini 3.5 Flash</a:t>
            </a:r>
            <a:endParaRPr lang="en-GB" sz="1050" dirty="0"/>
          </a:p>
        </p:txBody>
      </p:sp>
      <p:pic>
        <p:nvPicPr>
          <p:cNvPr id="1003" name="Vertex AI logo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528" y="1197864"/>
            <a:ext cx="164592" cy="164592"/>
          </a:xfrm>
          <a:prstGeom prst="rect">
            <a:avLst/>
          </a:prstGeom>
        </p:spPr>
      </p:pic>
      <p:sp>
        <p:nvSpPr>
          <p:cNvPr id="1004" name="Google Gen AI SDK chip"/>
          <p:cNvSpPr/>
          <p:nvPr/>
        </p:nvSpPr>
        <p:spPr>
          <a:xfrm>
            <a:off x="3786851" y="1143000"/>
            <a:ext cx="16219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5" name="Google Gen AI SDK label"/>
          <p:cNvSpPr txBox="1"/>
          <p:nvPr/>
        </p:nvSpPr>
        <p:spPr>
          <a:xfrm>
            <a:off x="4125179" y="1143000"/>
            <a:ext cx="12104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 Gen AI SDK</a:t>
            </a:r>
            <a:endParaRPr lang="en-GB" sz="1050" dirty="0"/>
          </a:p>
        </p:txBody>
      </p:sp>
      <p:pic>
        <p:nvPicPr>
          <p:cNvPr id="1006" name="Google Gen AI SDK logo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579" y="1197864"/>
            <a:ext cx="164592" cy="164592"/>
          </a:xfrm>
          <a:prstGeom prst="rect">
            <a:avLst/>
          </a:prstGeom>
        </p:spPr>
      </p:pic>
      <p:sp>
        <p:nvSpPr>
          <p:cNvPr id="1007" name="Agent Development Kit chip"/>
          <p:cNvSpPr/>
          <p:nvPr/>
        </p:nvSpPr>
        <p:spPr>
          <a:xfrm>
            <a:off x="5481911" y="1143000"/>
            <a:ext cx="29342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8" name="Agent Development Kit label"/>
          <p:cNvSpPr txBox="1"/>
          <p:nvPr/>
        </p:nvSpPr>
        <p:spPr>
          <a:xfrm>
            <a:off x="5820239" y="1143000"/>
            <a:ext cx="25228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Agent Development Kit</a:t>
            </a:r>
            <a:r>
              <a:rPr lang="en-GB" sz="9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 TypeScript + Python</a:t>
            </a:r>
            <a:endParaRPr lang="en-GB" sz="1050" dirty="0"/>
          </a:p>
        </p:txBody>
      </p:sp>
      <p:pic>
        <p:nvPicPr>
          <p:cNvPr id="1009" name="Agent Development Kit logo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639" y="1197864"/>
            <a:ext cx="164592" cy="164592"/>
          </a:xfrm>
          <a:prstGeom prst="rect">
            <a:avLst/>
          </a:prstGeom>
        </p:spPr>
      </p:pic>
      <p:sp>
        <p:nvSpPr>
          <p:cNvPr id="1010" name="Google Search grounding chip"/>
          <p:cNvSpPr/>
          <p:nvPr/>
        </p:nvSpPr>
        <p:spPr>
          <a:xfrm>
            <a:off x="1828800" y="1490472"/>
            <a:ext cx="199774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11" name="Google Search grounding label"/>
          <p:cNvSpPr txBox="1"/>
          <p:nvPr/>
        </p:nvSpPr>
        <p:spPr>
          <a:xfrm>
            <a:off x="2167128" y="1490472"/>
            <a:ext cx="15862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 Search grounding</a:t>
            </a:r>
            <a:endParaRPr lang="en-GB" sz="1050" dirty="0"/>
          </a:p>
        </p:txBody>
      </p:sp>
      <p:pic>
        <p:nvPicPr>
          <p:cNvPr id="1012" name="Google Search grounding logo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8528" y="1545336"/>
            <a:ext cx="164592" cy="164592"/>
          </a:xfrm>
          <a:prstGeom prst="rect">
            <a:avLst/>
          </a:prstGeom>
        </p:spPr>
      </p:pic>
      <p:sp>
        <p:nvSpPr>
          <p:cNvPr id="1013" name="Model Context Protocol chip"/>
          <p:cNvSpPr/>
          <p:nvPr/>
        </p:nvSpPr>
        <p:spPr>
          <a:xfrm>
            <a:off x="3899699" y="1490472"/>
            <a:ext cx="167231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14" name="Model Context Protocol label"/>
          <p:cNvSpPr txBox="1"/>
          <p:nvPr/>
        </p:nvSpPr>
        <p:spPr>
          <a:xfrm>
            <a:off x="4018571" y="1490472"/>
            <a:ext cx="14802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Model Context Protocol</a:t>
            </a:r>
            <a:endParaRPr lang="en-GB" sz="1050" dirty="0"/>
          </a:p>
        </p:txBody>
      </p:sp>
      <p:sp>
        <p:nvSpPr>
          <p:cNvPr id="1015" name="AI and agents group"/>
          <p:cNvSpPr txBox="1"/>
          <p:nvPr/>
        </p:nvSpPr>
        <p:spPr>
          <a:xfrm>
            <a:off x="365760" y="1143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and agents</a:t>
            </a:r>
            <a:endParaRPr lang="en-GB" sz="1100" dirty="0"/>
          </a:p>
        </p:txBody>
      </p:sp>
      <p:sp>
        <p:nvSpPr>
          <p:cNvPr id="1016" name="Firebase App Hosting chip"/>
          <p:cNvSpPr/>
          <p:nvPr/>
        </p:nvSpPr>
        <p:spPr>
          <a:xfrm>
            <a:off x="1828800" y="1975104"/>
            <a:ext cx="174788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17" name="Firebase App Hosting label"/>
          <p:cNvSpPr txBox="1"/>
          <p:nvPr/>
        </p:nvSpPr>
        <p:spPr>
          <a:xfrm>
            <a:off x="2167128" y="1975104"/>
            <a:ext cx="133640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Firebase App Hosting</a:t>
            </a:r>
            <a:endParaRPr lang="en-GB" sz="1050" dirty="0"/>
          </a:p>
        </p:txBody>
      </p:sp>
      <p:pic>
        <p:nvPicPr>
          <p:cNvPr id="1018" name="Firebase App Hosting logo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528" y="2029968"/>
            <a:ext cx="164592" cy="164592"/>
          </a:xfrm>
          <a:prstGeom prst="rect">
            <a:avLst/>
          </a:prstGeom>
        </p:spPr>
      </p:pic>
      <p:sp>
        <p:nvSpPr>
          <p:cNvPr id="1019" name="Cloud Run chip"/>
          <p:cNvSpPr/>
          <p:nvPr/>
        </p:nvSpPr>
        <p:spPr>
          <a:xfrm>
            <a:off x="3649834" y="1975104"/>
            <a:ext cx="10757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0" name="Cloud Run label"/>
          <p:cNvSpPr txBox="1"/>
          <p:nvPr/>
        </p:nvSpPr>
        <p:spPr>
          <a:xfrm>
            <a:off x="3988162" y="1975104"/>
            <a:ext cx="6642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Run</a:t>
            </a:r>
            <a:endParaRPr lang="en-GB" sz="1050" dirty="0"/>
          </a:p>
        </p:txBody>
      </p:sp>
      <p:pic>
        <p:nvPicPr>
          <p:cNvPr id="1021" name="Cloud Run logo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9562" y="2029968"/>
            <a:ext cx="164592" cy="164592"/>
          </a:xfrm>
          <a:prstGeom prst="rect">
            <a:avLst/>
          </a:prstGeom>
        </p:spPr>
      </p:pic>
      <p:sp>
        <p:nvSpPr>
          <p:cNvPr id="1022" name="Cloud Build chip"/>
          <p:cNvSpPr/>
          <p:nvPr/>
        </p:nvSpPr>
        <p:spPr>
          <a:xfrm>
            <a:off x="4798743" y="1975104"/>
            <a:ext cx="114209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3" name="Cloud Build label"/>
          <p:cNvSpPr txBox="1"/>
          <p:nvPr/>
        </p:nvSpPr>
        <p:spPr>
          <a:xfrm>
            <a:off x="5137071" y="1975104"/>
            <a:ext cx="730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Build</a:t>
            </a:r>
            <a:endParaRPr lang="en-GB" sz="1050" dirty="0"/>
          </a:p>
        </p:txBody>
      </p:sp>
      <p:pic>
        <p:nvPicPr>
          <p:cNvPr id="1024" name="Cloud Build logo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8471" y="2029968"/>
            <a:ext cx="164592" cy="164592"/>
          </a:xfrm>
          <a:prstGeom prst="rect">
            <a:avLst/>
          </a:prstGeom>
        </p:spPr>
      </p:pic>
      <p:sp>
        <p:nvSpPr>
          <p:cNvPr id="1025" name="Artifact Registry chip"/>
          <p:cNvSpPr/>
          <p:nvPr/>
        </p:nvSpPr>
        <p:spPr>
          <a:xfrm>
            <a:off x="6013993" y="1975104"/>
            <a:ext cx="143351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6" name="Artifact Registry label"/>
          <p:cNvSpPr txBox="1"/>
          <p:nvPr/>
        </p:nvSpPr>
        <p:spPr>
          <a:xfrm>
            <a:off x="6352321" y="1975104"/>
            <a:ext cx="102203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Artifact Registry</a:t>
            </a:r>
            <a:endParaRPr lang="en-GB" sz="1050" dirty="0"/>
          </a:p>
        </p:txBody>
      </p:sp>
      <p:pic>
        <p:nvPicPr>
          <p:cNvPr id="1027" name="Artifact Registry logo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3721" y="2029968"/>
            <a:ext cx="164592" cy="164592"/>
          </a:xfrm>
          <a:prstGeom prst="rect">
            <a:avLst/>
          </a:prstGeom>
        </p:spPr>
      </p:pic>
      <p:sp>
        <p:nvSpPr>
          <p:cNvPr id="1028" name="Secret Manager chip"/>
          <p:cNvSpPr/>
          <p:nvPr/>
        </p:nvSpPr>
        <p:spPr>
          <a:xfrm>
            <a:off x="1828800" y="2322576"/>
            <a:ext cx="141596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9" name="Secret Manager label"/>
          <p:cNvSpPr txBox="1"/>
          <p:nvPr/>
        </p:nvSpPr>
        <p:spPr>
          <a:xfrm>
            <a:off x="2167128" y="2322576"/>
            <a:ext cx="100448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Secret Manager</a:t>
            </a:r>
            <a:endParaRPr lang="en-GB" sz="1050" dirty="0"/>
          </a:p>
        </p:txBody>
      </p:sp>
      <p:pic>
        <p:nvPicPr>
          <p:cNvPr id="1030" name="Secret Manager logo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8528" y="2377440"/>
            <a:ext cx="164592" cy="164592"/>
          </a:xfrm>
          <a:prstGeom prst="rect">
            <a:avLst/>
          </a:prstGeom>
        </p:spPr>
      </p:pic>
      <p:sp>
        <p:nvSpPr>
          <p:cNvPr id="1031" name="Cloud Storage chip"/>
          <p:cNvSpPr/>
          <p:nvPr/>
        </p:nvSpPr>
        <p:spPr>
          <a:xfrm>
            <a:off x="3317918" y="2322576"/>
            <a:ext cx="132326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32" name="Cloud Storage label"/>
          <p:cNvSpPr txBox="1"/>
          <p:nvPr/>
        </p:nvSpPr>
        <p:spPr>
          <a:xfrm>
            <a:off x="3656246" y="2322576"/>
            <a:ext cx="9117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Storage</a:t>
            </a:r>
            <a:endParaRPr lang="en-GB" sz="1050" dirty="0"/>
          </a:p>
        </p:txBody>
      </p:sp>
      <p:pic>
        <p:nvPicPr>
          <p:cNvPr id="1033" name="Cloud Storage logo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7646" y="2377440"/>
            <a:ext cx="164592" cy="164592"/>
          </a:xfrm>
          <a:prstGeom prst="rect">
            <a:avLst/>
          </a:prstGeom>
        </p:spPr>
      </p:pic>
      <p:sp>
        <p:nvSpPr>
          <p:cNvPr id="1034" name="IAM chip"/>
          <p:cNvSpPr/>
          <p:nvPr/>
        </p:nvSpPr>
        <p:spPr>
          <a:xfrm>
            <a:off x="4714336" y="2322576"/>
            <a:ext cx="6946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35" name="IAM label"/>
          <p:cNvSpPr txBox="1"/>
          <p:nvPr/>
        </p:nvSpPr>
        <p:spPr>
          <a:xfrm>
            <a:off x="5052664" y="2322576"/>
            <a:ext cx="2832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IAM</a:t>
            </a:r>
            <a:endParaRPr lang="en-GB" sz="1050" dirty="0"/>
          </a:p>
        </p:txBody>
      </p:sp>
      <p:pic>
        <p:nvPicPr>
          <p:cNvPr id="1036" name="IAM logo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4064" y="2377440"/>
            <a:ext cx="164592" cy="164592"/>
          </a:xfrm>
          <a:prstGeom prst="rect">
            <a:avLst/>
          </a:prstGeom>
        </p:spPr>
      </p:pic>
      <p:sp>
        <p:nvSpPr>
          <p:cNvPr id="1037" name="BigQuery chip"/>
          <p:cNvSpPr/>
          <p:nvPr/>
        </p:nvSpPr>
        <p:spPr>
          <a:xfrm>
            <a:off x="5482176" y="2322576"/>
            <a:ext cx="10258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38" name="BigQuery label"/>
          <p:cNvSpPr txBox="1"/>
          <p:nvPr/>
        </p:nvSpPr>
        <p:spPr>
          <a:xfrm>
            <a:off x="5820504" y="2322576"/>
            <a:ext cx="6143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BigQuery</a:t>
            </a:r>
            <a:endParaRPr lang="en-GB" sz="1050" dirty="0"/>
          </a:p>
        </p:txBody>
      </p:sp>
      <p:pic>
        <p:nvPicPr>
          <p:cNvPr id="1039" name="BigQuery logo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1904" y="2377440"/>
            <a:ext cx="164592" cy="164592"/>
          </a:xfrm>
          <a:prstGeom prst="rect">
            <a:avLst/>
          </a:prstGeom>
        </p:spPr>
      </p:pic>
      <p:sp>
        <p:nvSpPr>
          <p:cNvPr id="1040" name="Pub/Sub chip"/>
          <p:cNvSpPr/>
          <p:nvPr/>
        </p:nvSpPr>
        <p:spPr>
          <a:xfrm>
            <a:off x="6581183" y="2322576"/>
            <a:ext cx="95397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41" name="Pub/Sub label"/>
          <p:cNvSpPr txBox="1"/>
          <p:nvPr/>
        </p:nvSpPr>
        <p:spPr>
          <a:xfrm>
            <a:off x="6919511" y="2322576"/>
            <a:ext cx="5424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Pub/Sub</a:t>
            </a:r>
            <a:endParaRPr lang="en-GB" sz="1050" dirty="0"/>
          </a:p>
        </p:txBody>
      </p:sp>
      <p:pic>
        <p:nvPicPr>
          <p:cNvPr id="1042" name="Pub/Sub logo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90911" y="2377440"/>
            <a:ext cx="164592" cy="164592"/>
          </a:xfrm>
          <a:prstGeom prst="rect">
            <a:avLst/>
          </a:prstGeom>
        </p:spPr>
      </p:pic>
      <p:sp>
        <p:nvSpPr>
          <p:cNvPr id="1043" name="Google Cloud group"/>
          <p:cNvSpPr txBox="1"/>
          <p:nvPr/>
        </p:nvSpPr>
        <p:spPr>
          <a:xfrm>
            <a:off x="365760" y="19751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Google Cloud</a:t>
            </a:r>
            <a:endParaRPr lang="en-GB" sz="1100" dirty="0"/>
          </a:p>
        </p:txBody>
      </p:sp>
      <p:sp>
        <p:nvSpPr>
          <p:cNvPr id="1044" name="Next.js chip"/>
          <p:cNvSpPr/>
          <p:nvPr/>
        </p:nvSpPr>
        <p:spPr>
          <a:xfrm>
            <a:off x="1828800" y="2807208"/>
            <a:ext cx="86139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45" name="Next.js label"/>
          <p:cNvSpPr txBox="1"/>
          <p:nvPr/>
        </p:nvSpPr>
        <p:spPr>
          <a:xfrm>
            <a:off x="2167128" y="2807208"/>
            <a:ext cx="4499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Next.js</a:t>
            </a:r>
            <a:endParaRPr lang="en-GB" sz="1050" dirty="0"/>
          </a:p>
        </p:txBody>
      </p:sp>
      <p:pic>
        <p:nvPicPr>
          <p:cNvPr id="1046" name="Next.js logo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38528" y="2862072"/>
            <a:ext cx="164592" cy="164592"/>
          </a:xfrm>
          <a:prstGeom prst="rect">
            <a:avLst/>
          </a:prstGeom>
        </p:spPr>
      </p:pic>
      <p:sp>
        <p:nvSpPr>
          <p:cNvPr id="1047" name="React chip"/>
          <p:cNvSpPr/>
          <p:nvPr/>
        </p:nvSpPr>
        <p:spPr>
          <a:xfrm>
            <a:off x="2763348" y="2807208"/>
            <a:ext cx="8004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48" name="React label"/>
          <p:cNvSpPr txBox="1"/>
          <p:nvPr/>
        </p:nvSpPr>
        <p:spPr>
          <a:xfrm>
            <a:off x="3101676" y="2807208"/>
            <a:ext cx="38901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React</a:t>
            </a:r>
            <a:endParaRPr lang="en-GB" sz="1050" dirty="0"/>
          </a:p>
        </p:txBody>
      </p:sp>
      <p:pic>
        <p:nvPicPr>
          <p:cNvPr id="1049" name="React logo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73076" y="2862072"/>
            <a:ext cx="164592" cy="164592"/>
          </a:xfrm>
          <a:prstGeom prst="rect">
            <a:avLst/>
          </a:prstGeom>
        </p:spPr>
      </p:pic>
      <p:sp>
        <p:nvSpPr>
          <p:cNvPr id="1050" name="TypeScript chip"/>
          <p:cNvSpPr/>
          <p:nvPr/>
        </p:nvSpPr>
        <p:spPr>
          <a:xfrm>
            <a:off x="3636993" y="2807208"/>
            <a:ext cx="110019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1" name="TypeScript label"/>
          <p:cNvSpPr txBox="1"/>
          <p:nvPr/>
        </p:nvSpPr>
        <p:spPr>
          <a:xfrm>
            <a:off x="3975321" y="2807208"/>
            <a:ext cx="68871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TypeScript</a:t>
            </a:r>
            <a:endParaRPr lang="en-GB" sz="1050" dirty="0"/>
          </a:p>
        </p:txBody>
      </p:sp>
      <p:pic>
        <p:nvPicPr>
          <p:cNvPr id="1052" name="TypeScript logo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46721" y="2862072"/>
            <a:ext cx="164592" cy="164592"/>
          </a:xfrm>
          <a:prstGeom prst="rect">
            <a:avLst/>
          </a:prstGeom>
        </p:spPr>
      </p:pic>
      <p:sp>
        <p:nvSpPr>
          <p:cNvPr id="1053" name="Tailwind CSS chip"/>
          <p:cNvSpPr/>
          <p:nvPr/>
        </p:nvSpPr>
        <p:spPr>
          <a:xfrm>
            <a:off x="4810342" y="2807208"/>
            <a:ext cx="12093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4" name="Tailwind CSS label"/>
          <p:cNvSpPr txBox="1"/>
          <p:nvPr/>
        </p:nvSpPr>
        <p:spPr>
          <a:xfrm>
            <a:off x="5148670" y="2807208"/>
            <a:ext cx="7978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Tailwind CSS</a:t>
            </a:r>
            <a:endParaRPr lang="en-GB" sz="1050" dirty="0"/>
          </a:p>
        </p:txBody>
      </p:sp>
      <p:pic>
        <p:nvPicPr>
          <p:cNvPr id="1055" name="Tailwind CSS logo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20070" y="2862072"/>
            <a:ext cx="164592" cy="164592"/>
          </a:xfrm>
          <a:prstGeom prst="rect">
            <a:avLst/>
          </a:prstGeom>
        </p:spPr>
      </p:pic>
      <p:sp>
        <p:nvSpPr>
          <p:cNvPr id="1056" name="Zustand chip"/>
          <p:cNvSpPr/>
          <p:nvPr/>
        </p:nvSpPr>
        <p:spPr>
          <a:xfrm>
            <a:off x="6092809" y="2807208"/>
            <a:ext cx="726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7" name="Zustand label"/>
          <p:cNvSpPr txBox="1"/>
          <p:nvPr/>
        </p:nvSpPr>
        <p:spPr>
          <a:xfrm>
            <a:off x="6211681" y="2807208"/>
            <a:ext cx="53478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Zustand</a:t>
            </a:r>
            <a:endParaRPr lang="en-GB" sz="1050" dirty="0"/>
          </a:p>
        </p:txBody>
      </p:sp>
      <p:sp>
        <p:nvSpPr>
          <p:cNvPr id="1058" name="Zod chip"/>
          <p:cNvSpPr/>
          <p:nvPr/>
        </p:nvSpPr>
        <p:spPr>
          <a:xfrm>
            <a:off x="6892766" y="2807208"/>
            <a:ext cx="6913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9" name="Zod label"/>
          <p:cNvSpPr txBox="1"/>
          <p:nvPr/>
        </p:nvSpPr>
        <p:spPr>
          <a:xfrm>
            <a:off x="7231094" y="2807208"/>
            <a:ext cx="279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Zod</a:t>
            </a:r>
            <a:endParaRPr lang="en-GB" sz="1050" dirty="0"/>
          </a:p>
        </p:txBody>
      </p:sp>
      <p:pic>
        <p:nvPicPr>
          <p:cNvPr id="1060" name="Zod logo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02494" y="2862072"/>
            <a:ext cx="164592" cy="164592"/>
          </a:xfrm>
          <a:prstGeom prst="rect">
            <a:avLst/>
          </a:prstGeom>
        </p:spPr>
      </p:pic>
      <p:sp>
        <p:nvSpPr>
          <p:cNvPr id="1061" name="React Flow chip"/>
          <p:cNvSpPr/>
          <p:nvPr/>
        </p:nvSpPr>
        <p:spPr>
          <a:xfrm>
            <a:off x="7657273" y="2807208"/>
            <a:ext cx="8907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2" name="React Flow label"/>
          <p:cNvSpPr txBox="1"/>
          <p:nvPr/>
        </p:nvSpPr>
        <p:spPr>
          <a:xfrm>
            <a:off x="7776145" y="2807208"/>
            <a:ext cx="69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React Flow</a:t>
            </a:r>
            <a:endParaRPr lang="en-GB" sz="1050" dirty="0"/>
          </a:p>
        </p:txBody>
      </p:sp>
      <p:sp>
        <p:nvSpPr>
          <p:cNvPr id="1063" name="Recharts chip"/>
          <p:cNvSpPr/>
          <p:nvPr/>
        </p:nvSpPr>
        <p:spPr>
          <a:xfrm>
            <a:off x="1828800" y="3154680"/>
            <a:ext cx="76872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4" name="Recharts label"/>
          <p:cNvSpPr txBox="1"/>
          <p:nvPr/>
        </p:nvSpPr>
        <p:spPr>
          <a:xfrm>
            <a:off x="1947672" y="3154680"/>
            <a:ext cx="57670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Recharts</a:t>
            </a:r>
            <a:endParaRPr lang="en-GB" sz="1050" dirty="0"/>
          </a:p>
        </p:txBody>
      </p:sp>
      <p:sp>
        <p:nvSpPr>
          <p:cNvPr id="1065" name="Radix UI chip"/>
          <p:cNvSpPr/>
          <p:nvPr/>
        </p:nvSpPr>
        <p:spPr>
          <a:xfrm>
            <a:off x="2670679" y="3154680"/>
            <a:ext cx="71226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6" name="Radix UI label"/>
          <p:cNvSpPr txBox="1"/>
          <p:nvPr/>
        </p:nvSpPr>
        <p:spPr>
          <a:xfrm>
            <a:off x="2789551" y="3154680"/>
            <a:ext cx="5202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Radix UI</a:t>
            </a:r>
            <a:endParaRPr lang="en-GB" sz="1050" dirty="0"/>
          </a:p>
        </p:txBody>
      </p:sp>
      <p:sp>
        <p:nvSpPr>
          <p:cNvPr id="1067" name="Node.js chip"/>
          <p:cNvSpPr/>
          <p:nvPr/>
        </p:nvSpPr>
        <p:spPr>
          <a:xfrm>
            <a:off x="3456093" y="3154680"/>
            <a:ext cx="9097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8" name="Node.js label"/>
          <p:cNvSpPr txBox="1"/>
          <p:nvPr/>
        </p:nvSpPr>
        <p:spPr>
          <a:xfrm>
            <a:off x="3794421" y="3154680"/>
            <a:ext cx="4982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Node.js</a:t>
            </a:r>
            <a:endParaRPr lang="en-GB" sz="1050" dirty="0"/>
          </a:p>
        </p:txBody>
      </p:sp>
      <p:pic>
        <p:nvPicPr>
          <p:cNvPr id="1069" name="Node.js logo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65821" y="3209544"/>
            <a:ext cx="164592" cy="164592"/>
          </a:xfrm>
          <a:prstGeom prst="rect">
            <a:avLst/>
          </a:prstGeom>
        </p:spPr>
      </p:pic>
      <p:sp>
        <p:nvSpPr>
          <p:cNvPr id="1070" name="Web application group"/>
          <p:cNvSpPr txBox="1"/>
          <p:nvPr/>
        </p:nvSpPr>
        <p:spPr>
          <a:xfrm>
            <a:off x="365760" y="2807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Web application</a:t>
            </a:r>
            <a:endParaRPr lang="en-GB" sz="1100" dirty="0"/>
          </a:p>
        </p:txBody>
      </p:sp>
      <p:sp>
        <p:nvSpPr>
          <p:cNvPr id="1071" name="three.js chip"/>
          <p:cNvSpPr/>
          <p:nvPr/>
        </p:nvSpPr>
        <p:spPr>
          <a:xfrm>
            <a:off x="1828800" y="3639312"/>
            <a:ext cx="90065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2" name="three.js label"/>
          <p:cNvSpPr txBox="1"/>
          <p:nvPr/>
        </p:nvSpPr>
        <p:spPr>
          <a:xfrm>
            <a:off x="2167128" y="3639312"/>
            <a:ext cx="48917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three.js</a:t>
            </a:r>
            <a:endParaRPr lang="en-GB" sz="1050" dirty="0"/>
          </a:p>
        </p:txBody>
      </p:sp>
      <p:pic>
        <p:nvPicPr>
          <p:cNvPr id="1073" name="three.js logo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38528" y="3694176"/>
            <a:ext cx="164592" cy="164592"/>
          </a:xfrm>
          <a:prstGeom prst="rect">
            <a:avLst/>
          </a:prstGeom>
        </p:spPr>
      </p:pic>
      <p:sp>
        <p:nvSpPr>
          <p:cNvPr id="1074" name="React Three Fiber chip"/>
          <p:cNvSpPr/>
          <p:nvPr/>
        </p:nvSpPr>
        <p:spPr>
          <a:xfrm>
            <a:off x="2802603" y="3639312"/>
            <a:ext cx="129056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5" name="React Three Fiber label"/>
          <p:cNvSpPr txBox="1"/>
          <p:nvPr/>
        </p:nvSpPr>
        <p:spPr>
          <a:xfrm>
            <a:off x="2921475" y="3639312"/>
            <a:ext cx="109853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React Three Fiber</a:t>
            </a:r>
            <a:endParaRPr lang="en-GB" sz="1050" dirty="0"/>
          </a:p>
        </p:txBody>
      </p:sp>
      <p:sp>
        <p:nvSpPr>
          <p:cNvPr id="1076" name="drei chip"/>
          <p:cNvSpPr/>
          <p:nvPr/>
        </p:nvSpPr>
        <p:spPr>
          <a:xfrm>
            <a:off x="4166318" y="3639312"/>
            <a:ext cx="46977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7" name="drei label"/>
          <p:cNvSpPr txBox="1"/>
          <p:nvPr/>
        </p:nvSpPr>
        <p:spPr>
          <a:xfrm>
            <a:off x="4285190" y="3639312"/>
            <a:ext cx="27774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drei</a:t>
            </a:r>
            <a:endParaRPr lang="en-GB" sz="1050" dirty="0"/>
          </a:p>
        </p:txBody>
      </p:sp>
      <p:sp>
        <p:nvSpPr>
          <p:cNvPr id="1078" name="postprocessing chip"/>
          <p:cNvSpPr/>
          <p:nvPr/>
        </p:nvSpPr>
        <p:spPr>
          <a:xfrm>
            <a:off x="4709243" y="3639312"/>
            <a:ext cx="117306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9" name="postprocessing label"/>
          <p:cNvSpPr txBox="1"/>
          <p:nvPr/>
        </p:nvSpPr>
        <p:spPr>
          <a:xfrm>
            <a:off x="4828115" y="3639312"/>
            <a:ext cx="98104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postprocessing</a:t>
            </a:r>
            <a:endParaRPr lang="en-GB" sz="1050" dirty="0"/>
          </a:p>
        </p:txBody>
      </p:sp>
      <p:sp>
        <p:nvSpPr>
          <p:cNvPr id="1080" name="hls.js chip"/>
          <p:cNvSpPr/>
          <p:nvPr/>
        </p:nvSpPr>
        <p:spPr>
          <a:xfrm>
            <a:off x="5955465" y="3639312"/>
            <a:ext cx="5268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81" name="hls.js label"/>
          <p:cNvSpPr txBox="1"/>
          <p:nvPr/>
        </p:nvSpPr>
        <p:spPr>
          <a:xfrm>
            <a:off x="6074337" y="3639312"/>
            <a:ext cx="3348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hls.js</a:t>
            </a:r>
            <a:endParaRPr lang="en-GB" sz="1050" dirty="0"/>
          </a:p>
        </p:txBody>
      </p:sp>
      <p:sp>
        <p:nvSpPr>
          <p:cNvPr id="1082" name="3D and media group"/>
          <p:cNvSpPr txBox="1"/>
          <p:nvPr/>
        </p:nvSpPr>
        <p:spPr>
          <a:xfrm>
            <a:off x="365760" y="36393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3D and media</a:t>
            </a:r>
            <a:endParaRPr lang="en-GB" sz="1100" dirty="0"/>
          </a:p>
        </p:txBody>
      </p:sp>
      <p:sp>
        <p:nvSpPr>
          <p:cNvPr id="1083" name="Python chip"/>
          <p:cNvSpPr/>
          <p:nvPr/>
        </p:nvSpPr>
        <p:spPr>
          <a:xfrm>
            <a:off x="1828800" y="4123944"/>
            <a:ext cx="88014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84" name="Python label"/>
          <p:cNvSpPr txBox="1"/>
          <p:nvPr/>
        </p:nvSpPr>
        <p:spPr>
          <a:xfrm>
            <a:off x="2167128" y="4123944"/>
            <a:ext cx="46866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Python</a:t>
            </a:r>
            <a:endParaRPr lang="en-GB" sz="1050" dirty="0"/>
          </a:p>
        </p:txBody>
      </p:sp>
      <p:pic>
        <p:nvPicPr>
          <p:cNvPr id="1085" name="Python logo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38528" y="4178808"/>
            <a:ext cx="164592" cy="164592"/>
          </a:xfrm>
          <a:prstGeom prst="rect">
            <a:avLst/>
          </a:prstGeom>
        </p:spPr>
      </p:pic>
      <p:sp>
        <p:nvSpPr>
          <p:cNvPr id="1086" name="FastAPI chip"/>
          <p:cNvSpPr/>
          <p:nvPr/>
        </p:nvSpPr>
        <p:spPr>
          <a:xfrm>
            <a:off x="2782101" y="4123944"/>
            <a:ext cx="90577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87" name="FastAPI label"/>
          <p:cNvSpPr txBox="1"/>
          <p:nvPr/>
        </p:nvSpPr>
        <p:spPr>
          <a:xfrm>
            <a:off x="3120429" y="4123944"/>
            <a:ext cx="49429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FastAPI</a:t>
            </a:r>
            <a:endParaRPr lang="en-GB" sz="1050" dirty="0"/>
          </a:p>
        </p:txBody>
      </p:sp>
      <p:pic>
        <p:nvPicPr>
          <p:cNvPr id="1088" name="FastAPI logo" descr="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91829" y="4178808"/>
            <a:ext cx="164592" cy="164592"/>
          </a:xfrm>
          <a:prstGeom prst="rect">
            <a:avLst/>
          </a:prstGeom>
        </p:spPr>
      </p:pic>
      <p:sp>
        <p:nvSpPr>
          <p:cNvPr id="1089" name="OpenCV chip"/>
          <p:cNvSpPr/>
          <p:nvPr/>
        </p:nvSpPr>
        <p:spPr>
          <a:xfrm>
            <a:off x="3761030" y="4123944"/>
            <a:ext cx="9795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90" name="OpenCV label"/>
          <p:cNvSpPr txBox="1"/>
          <p:nvPr/>
        </p:nvSpPr>
        <p:spPr>
          <a:xfrm>
            <a:off x="4099358" y="4123944"/>
            <a:ext cx="5680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OpenCV</a:t>
            </a:r>
            <a:endParaRPr lang="en-GB" sz="1050" dirty="0"/>
          </a:p>
        </p:txBody>
      </p:sp>
      <p:pic>
        <p:nvPicPr>
          <p:cNvPr id="1091" name="OpenCV logo" descr="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70758" y="4178808"/>
            <a:ext cx="164592" cy="164592"/>
          </a:xfrm>
          <a:prstGeom prst="rect">
            <a:avLst/>
          </a:prstGeom>
        </p:spPr>
      </p:pic>
      <p:sp>
        <p:nvSpPr>
          <p:cNvPr id="1092" name="google-adk[mcp] chip"/>
          <p:cNvSpPr/>
          <p:nvPr/>
        </p:nvSpPr>
        <p:spPr>
          <a:xfrm>
            <a:off x="4813697" y="4123944"/>
            <a:ext cx="151597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93" name="google-adk[mcp] label"/>
          <p:cNvSpPr txBox="1"/>
          <p:nvPr/>
        </p:nvSpPr>
        <p:spPr>
          <a:xfrm>
            <a:off x="5152025" y="4123944"/>
            <a:ext cx="11044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google-adk[mcp]</a:t>
            </a:r>
            <a:endParaRPr lang="en-GB" sz="1050" dirty="0"/>
          </a:p>
        </p:txBody>
      </p:sp>
      <p:pic>
        <p:nvPicPr>
          <p:cNvPr id="1094" name="google-adk[mcp] logo" descr="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23425" y="4178808"/>
            <a:ext cx="164592" cy="164592"/>
          </a:xfrm>
          <a:prstGeom prst="rect">
            <a:avLst/>
          </a:prstGeom>
        </p:spPr>
      </p:pic>
      <p:sp>
        <p:nvSpPr>
          <p:cNvPr id="1095" name="Python services group"/>
          <p:cNvSpPr txBox="1"/>
          <p:nvPr/>
        </p:nvSpPr>
        <p:spPr>
          <a:xfrm>
            <a:off x="365760" y="41239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Python services</a:t>
            </a:r>
            <a:endParaRPr lang="en-GB" sz="1100" dirty="0"/>
          </a:p>
        </p:txBody>
      </p:sp>
      <p:sp>
        <p:nvSpPr>
          <p:cNvPr id="1096" name="Vitest chip"/>
          <p:cNvSpPr/>
          <p:nvPr/>
        </p:nvSpPr>
        <p:spPr>
          <a:xfrm>
            <a:off x="1828800" y="4608576"/>
            <a:ext cx="80676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97" name="Vitest label"/>
          <p:cNvSpPr txBox="1"/>
          <p:nvPr/>
        </p:nvSpPr>
        <p:spPr>
          <a:xfrm>
            <a:off x="2167128" y="4608576"/>
            <a:ext cx="39528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Vitest</a:t>
            </a:r>
            <a:endParaRPr lang="en-GB" sz="1050" dirty="0"/>
          </a:p>
        </p:txBody>
      </p:sp>
      <p:pic>
        <p:nvPicPr>
          <p:cNvPr id="1098" name="Vitest logo" descr="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38528" y="4663440"/>
            <a:ext cx="164592" cy="164592"/>
          </a:xfrm>
          <a:prstGeom prst="rect">
            <a:avLst/>
          </a:prstGeom>
        </p:spPr>
      </p:pic>
      <p:sp>
        <p:nvSpPr>
          <p:cNvPr id="1099" name="Playwright chip"/>
          <p:cNvSpPr/>
          <p:nvPr/>
        </p:nvSpPr>
        <p:spPr>
          <a:xfrm>
            <a:off x="2708717" y="4608576"/>
            <a:ext cx="1086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100" name="Playwright label"/>
          <p:cNvSpPr txBox="1"/>
          <p:nvPr/>
        </p:nvSpPr>
        <p:spPr>
          <a:xfrm>
            <a:off x="3047045" y="4608576"/>
            <a:ext cx="67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Playwright</a:t>
            </a:r>
            <a:endParaRPr lang="en-GB" sz="1050" dirty="0"/>
          </a:p>
        </p:txBody>
      </p:sp>
      <p:pic>
        <p:nvPicPr>
          <p:cNvPr id="1101" name="Playwright logo" descr="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18445" y="4663440"/>
            <a:ext cx="164592" cy="164592"/>
          </a:xfrm>
          <a:prstGeom prst="rect">
            <a:avLst/>
          </a:prstGeom>
        </p:spPr>
      </p:pic>
      <p:sp>
        <p:nvSpPr>
          <p:cNvPr id="1102" name="pytest chip"/>
          <p:cNvSpPr/>
          <p:nvPr/>
        </p:nvSpPr>
        <p:spPr>
          <a:xfrm>
            <a:off x="3868189" y="4608576"/>
            <a:ext cx="83918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103" name="pytest label"/>
          <p:cNvSpPr txBox="1"/>
          <p:nvPr/>
        </p:nvSpPr>
        <p:spPr>
          <a:xfrm>
            <a:off x="4206517" y="4608576"/>
            <a:ext cx="42770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pytest</a:t>
            </a:r>
            <a:endParaRPr lang="en-GB" sz="1050" dirty="0"/>
          </a:p>
        </p:txBody>
      </p:sp>
      <p:pic>
        <p:nvPicPr>
          <p:cNvPr id="1104" name="pytest logo" descr="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77917" y="4663440"/>
            <a:ext cx="164592" cy="164592"/>
          </a:xfrm>
          <a:prstGeom prst="rect">
            <a:avLst/>
          </a:prstGeom>
        </p:spPr>
      </p:pic>
      <p:sp>
        <p:nvSpPr>
          <p:cNvPr id="1105" name="GitHub chip"/>
          <p:cNvSpPr/>
          <p:nvPr/>
        </p:nvSpPr>
        <p:spPr>
          <a:xfrm>
            <a:off x="4780526" y="4608576"/>
            <a:ext cx="88937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106" name="GitHub label"/>
          <p:cNvSpPr txBox="1"/>
          <p:nvPr/>
        </p:nvSpPr>
        <p:spPr>
          <a:xfrm>
            <a:off x="5118854" y="4608576"/>
            <a:ext cx="4778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</a:t>
            </a:r>
            <a:endParaRPr lang="en-GB" sz="1050" dirty="0"/>
          </a:p>
        </p:txBody>
      </p:sp>
      <p:pic>
        <p:nvPicPr>
          <p:cNvPr id="1107" name="GitHub logo" descr="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90254" y="4663440"/>
            <a:ext cx="164592" cy="164592"/>
          </a:xfrm>
          <a:prstGeom prst="rect">
            <a:avLst/>
          </a:prstGeom>
        </p:spPr>
      </p:pic>
      <p:sp>
        <p:nvSpPr>
          <p:cNvPr id="1108" name="Testing group"/>
          <p:cNvSpPr txBox="1"/>
          <p:nvPr/>
        </p:nvSpPr>
        <p:spPr>
          <a:xfrm>
            <a:off x="365760" y="460857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Testing</a:t>
            </a:r>
            <a:endParaRPr lang="en-GB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 (1/2)</a:t>
            </a:r>
            <a:endParaRPr lang="en-GB" sz="1600" dirty="0"/>
          </a:p>
        </p:txBody>
      </p:sp>
      <p:pic>
        <p:nvPicPr>
          <p:cNvPr id="1001" name="Command Center" descr="Command Cen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2" name="Command Center caption"/>
          <p:cNvSpPr txBox="1"/>
          <p:nvPr/>
        </p:nvSpPr>
        <p:spPr>
          <a:xfrm>
            <a:off x="3081528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Command Center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whole plant on one screen during the crisis, with the guided demo panel.</a:t>
            </a:r>
            <a:endParaRPr lang="en-GB" sz="1050" dirty="0"/>
          </a:p>
        </p:txBody>
      </p:sp>
      <p:pic>
        <p:nvPicPr>
          <p:cNvPr id="1003" name="AI Operations" descr="AI Opera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4" name="AI Operations caption"/>
          <p:cNvSpPr txBox="1"/>
          <p:nvPr/>
        </p:nvSpPr>
        <p:spPr>
          <a:xfrm>
            <a:off x="7360920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Operations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Six agents stream findings; a trip is predicted about 16 hours ahead.</a:t>
            </a:r>
            <a:endParaRPr lang="en-GB" sz="1050" dirty="0"/>
          </a:p>
        </p:txBody>
      </p:sp>
      <p:pic>
        <p:nvPicPr>
          <p:cNvPr id="1005" name="What-If Simulator" descr="What-If Simulat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6" name="What-If Simulator caption"/>
          <p:cNvSpPr txBox="1"/>
          <p:nvPr/>
        </p:nvSpPr>
        <p:spPr>
          <a:xfrm>
            <a:off x="3081528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What-If Simulator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Four plans compared; reroute to Line B + maintain scores 82.2 with no late units.</a:t>
            </a:r>
            <a:endParaRPr lang="en-GB" sz="1050" dirty="0"/>
          </a:p>
        </p:txBody>
      </p:sp>
      <p:pic>
        <p:nvPicPr>
          <p:cNvPr id="1007" name="Digital Twin in 3D" descr="Digital Twin in 3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8" name="Digital Twin in 3D caption"/>
          <p:cNvSpPr txBox="1"/>
          <p:nvPr/>
        </p:nvSpPr>
        <p:spPr>
          <a:xfrm>
            <a:off x="7360920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Digital Twin in 3D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Orbit the live plant; robots animate and the recommended path is highlighted.</a:t>
            </a:r>
            <a:endParaRPr lang="en-GB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 (2/2)</a:t>
            </a:r>
            <a:endParaRPr lang="en-GB" sz="1600" dirty="0"/>
          </a:p>
        </p:txBody>
      </p:sp>
      <p:pic>
        <p:nvPicPr>
          <p:cNvPr id="1001" name="Approvals" descr="Approva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2" name="Approvals caption"/>
          <p:cNvSpPr txBox="1"/>
          <p:nvPr/>
        </p:nvSpPr>
        <p:spPr>
          <a:xfrm>
            <a:off x="3081528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Approvals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approved plan ran: Line B took over and the failing robot is healthy again.</a:t>
            </a:r>
            <a:endParaRPr lang="en-GB" sz="1050" dirty="0"/>
          </a:p>
        </p:txBody>
      </p:sp>
      <p:pic>
        <p:nvPicPr>
          <p:cNvPr id="1003" name="Visual Quality" descr="Visual Qual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4" name="Visual Quality caption"/>
          <p:cNvSpPr txBox="1"/>
          <p:nvPr/>
        </p:nvSpPr>
        <p:spPr>
          <a:xfrm>
            <a:off x="7360920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Visual Quality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FPY, DPMO and defect Pareto; robot vibration tracks Line A rejects (r = 0.89).</a:t>
            </a:r>
            <a:endParaRPr lang="en-GB" sz="1050" dirty="0"/>
          </a:p>
        </p:txBody>
      </p:sp>
      <p:pic>
        <p:nvPicPr>
          <p:cNvPr id="1005" name="Twin Builder" descr="Twin Build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6" name="Twin Builder caption"/>
          <p:cNvSpPr txBox="1"/>
          <p:nvPr/>
        </p:nvSpPr>
        <p:spPr>
          <a:xfrm>
            <a:off x="3081528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Twin Builder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 screen with stages, provenance counts and a live layout preview.</a:t>
            </a:r>
            <a:endParaRPr lang="en-GB" sz="1050" dirty="0"/>
          </a:p>
        </p:txBody>
      </p:sp>
      <p:pic>
        <p:nvPicPr>
          <p:cNvPr id="1007" name="Playground" descr="Playgroun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8" name="Playground caption"/>
          <p:cNvSpPr txBox="1"/>
          <p:nvPr/>
        </p:nvSpPr>
        <p:spPr>
          <a:xfrm>
            <a:off x="7360920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Playground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Place machines and robots on the floor and set automation rules.</a:t>
            </a:r>
            <a:endParaRPr lang="en-GB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lang="en-GB" sz="1600" dirty="0"/>
          </a:p>
        </p:txBody>
      </p:sp>
      <p:sp>
        <p:nvSpPr>
          <p:cNvPr id="1001" name="Benchmark label"/>
          <p:cNvSpPr txBox="1"/>
          <p:nvPr/>
        </p:nvSpPr>
        <p:spPr>
          <a:xfrm>
            <a:off x="365760" y="106984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Benchmark: plans compared on the twin in the demo crisis</a:t>
            </a: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  model estimates on demo data</a:t>
            </a:r>
            <a:endParaRPr lang="en-GB" sz="1200" dirty="0"/>
          </a:p>
        </p:txBody>
      </p:sp>
      <p:graphicFrame>
        <p:nvGraphicFramePr>
          <p:cNvPr id="1002" name="Plan benchmark"/>
          <p:cNvGraphicFramePr>
            <a:graphicFrameLocks noGrp="1"/>
          </p:cNvGraphicFramePr>
          <p:nvPr/>
        </p:nvGraphicFramePr>
        <p:xfrm>
          <a:off x="365760" y="1389888"/>
          <a:ext cx="8412480" cy="1234440"/>
        </p:xfrm>
        <a:graphic>
          <a:graphicData uri="http://schemas.openxmlformats.org/drawingml/2006/table">
            <a:tbl>
              <a:tblPr firstRow="1" bandRow="0"/>
              <a:tblGrid>
                <a:gridCol w="3429000"/>
                <a:gridCol w="1097280"/>
                <a:gridCol w="1097280"/>
                <a:gridCol w="1280160"/>
                <a:gridCol w="1508760"/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Plan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Score / 100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Late units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Estimated cost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Unplanned stop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Reference plan (asset assumed healthy)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100.0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$7.4K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None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Continue production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45.7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711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$57.6K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Trip at about h+16.5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Stop for preventive maintenance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72.5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471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$20.6K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None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188038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Reroute to Line B + maintain (recommended)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82.2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$13.7K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None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003" name="Benchmark note"/>
          <p:cNvSpPr txBox="1"/>
          <p:nvPr/>
        </p:nvSpPr>
        <p:spPr>
          <a:xfrm>
            <a:off x="365760" y="2642616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Scores weight delivery 40, cost 30, risk 20 and sustainability 10 against the reference plan.</a:t>
            </a:r>
            <a:endParaRPr lang="en-GB" sz="950" dirty="0"/>
          </a:p>
        </p:txBody>
      </p:sp>
      <p:sp>
        <p:nvSpPr>
          <p:cNvPr id="1004" name="Measured label"/>
          <p:cNvSpPr txBox="1"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Measured on the live prototype</a:t>
            </a:r>
            <a:endParaRPr lang="en-GB" sz="1200" dirty="0"/>
          </a:p>
        </p:txBody>
      </p:sp>
      <p:sp>
        <p:nvSpPr>
          <p:cNvPr id="1005" name="Metric 1"/>
          <p:cNvSpPr/>
          <p:nvPr/>
        </p:nvSpPr>
        <p:spPr>
          <a:xfrm>
            <a:off x="36576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6" name="Metric 1 value"/>
          <p:cNvSpPr txBox="1"/>
          <p:nvPr/>
        </p:nvSpPr>
        <p:spPr>
          <a:xfrm>
            <a:off x="50292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≈ 5.5 s</a:t>
            </a:r>
            <a:endParaRPr lang="en-GB" sz="1700" dirty="0"/>
          </a:p>
        </p:txBody>
      </p:sp>
      <p:sp>
        <p:nvSpPr>
          <p:cNvPr id="1007" name="Metric 1 label"/>
          <p:cNvSpPr txBox="1"/>
          <p:nvPr/>
        </p:nvSpPr>
        <p:spPr>
          <a:xfrm>
            <a:off x="50292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agent briefing</a:t>
            </a:r>
            <a:endParaRPr lang="en-GB" sz="1000" dirty="0"/>
          </a:p>
        </p:txBody>
      </p:sp>
      <p:sp>
        <p:nvSpPr>
          <p:cNvPr id="1008" name="Metric 2"/>
          <p:cNvSpPr/>
          <p:nvPr/>
        </p:nvSpPr>
        <p:spPr>
          <a:xfrm>
            <a:off x="250317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9" name="Metric 2 value"/>
          <p:cNvSpPr txBox="1"/>
          <p:nvPr/>
        </p:nvSpPr>
        <p:spPr>
          <a:xfrm>
            <a:off x="264033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8–23 s</a:t>
            </a:r>
            <a:endParaRPr lang="en-GB" sz="1700" dirty="0"/>
          </a:p>
        </p:txBody>
      </p:sp>
      <p:sp>
        <p:nvSpPr>
          <p:cNvPr id="1010" name="Metric 2 label"/>
          <p:cNvSpPr txBox="1"/>
          <p:nvPr/>
        </p:nvSpPr>
        <p:spPr>
          <a:xfrm>
            <a:off x="264033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Copilot answer with tool calls</a:t>
            </a:r>
            <a:endParaRPr lang="en-GB" sz="1000" dirty="0"/>
          </a:p>
        </p:txBody>
      </p:sp>
      <p:sp>
        <p:nvSpPr>
          <p:cNvPr id="1011" name="Metric 3"/>
          <p:cNvSpPr/>
          <p:nvPr/>
        </p:nvSpPr>
        <p:spPr>
          <a:xfrm>
            <a:off x="464058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Metric 3 value"/>
          <p:cNvSpPr txBox="1"/>
          <p:nvPr/>
        </p:nvSpPr>
        <p:spPr>
          <a:xfrm>
            <a:off x="477774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≈ 15 s</a:t>
            </a:r>
            <a:endParaRPr lang="en-GB" sz="1700" dirty="0"/>
          </a:p>
        </p:txBody>
      </p:sp>
      <p:sp>
        <p:nvSpPr>
          <p:cNvPr id="1013" name="Metric 3 label"/>
          <p:cNvSpPr txBox="1"/>
          <p:nvPr/>
        </p:nvSpPr>
        <p:spPr>
          <a:xfrm>
            <a:off x="477774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External Python ADK agent, 4 tool calls</a:t>
            </a:r>
            <a:endParaRPr lang="en-GB" sz="1000" dirty="0"/>
          </a:p>
        </p:txBody>
      </p:sp>
      <p:sp>
        <p:nvSpPr>
          <p:cNvPr id="1014" name="Metric 4"/>
          <p:cNvSpPr/>
          <p:nvPr/>
        </p:nvSpPr>
        <p:spPr>
          <a:xfrm>
            <a:off x="677799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5" name="Metric 4 value"/>
          <p:cNvSpPr txBox="1"/>
          <p:nvPr/>
        </p:nvSpPr>
        <p:spPr>
          <a:xfrm>
            <a:off x="691515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≈ 78 s</a:t>
            </a:r>
            <a:endParaRPr lang="en-GB" sz="1700" dirty="0"/>
          </a:p>
        </p:txBody>
      </p:sp>
      <p:sp>
        <p:nvSpPr>
          <p:cNvPr id="1016" name="Metric 4 label"/>
          <p:cNvSpPr txBox="1"/>
          <p:nvPr/>
        </p:nvSpPr>
        <p:spPr>
          <a:xfrm>
            <a:off x="691515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Twin Builder draft with web research</a:t>
            </a:r>
            <a:endParaRPr lang="en-GB" sz="1000" dirty="0"/>
          </a:p>
        </p:txBody>
      </p:sp>
      <p:sp>
        <p:nvSpPr>
          <p:cNvPr id="1017" name="Metric 5"/>
          <p:cNvSpPr/>
          <p:nvPr/>
        </p:nvSpPr>
        <p:spPr>
          <a:xfrm>
            <a:off x="36576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8" name="Metric 5 value"/>
          <p:cNvSpPr txBox="1"/>
          <p:nvPr/>
        </p:nvSpPr>
        <p:spPr>
          <a:xfrm>
            <a:off x="50292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Instant</a:t>
            </a:r>
            <a:endParaRPr lang="en-GB" sz="1700" dirty="0"/>
          </a:p>
        </p:txBody>
      </p:sp>
      <p:sp>
        <p:nvSpPr>
          <p:cNvPr id="1019" name="Metric 5 label"/>
          <p:cNvSpPr txBox="1"/>
          <p:nvPr/>
        </p:nvSpPr>
        <p:spPr>
          <a:xfrm>
            <a:off x="50292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What-If recalculation, in the browser</a:t>
            </a:r>
            <a:endParaRPr lang="en-GB" sz="1000" dirty="0"/>
          </a:p>
        </p:txBody>
      </p:sp>
      <p:sp>
        <p:nvSpPr>
          <p:cNvPr id="1020" name="Metric 6"/>
          <p:cNvSpPr/>
          <p:nvPr/>
        </p:nvSpPr>
        <p:spPr>
          <a:xfrm>
            <a:off x="250317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1" name="Metric 6 value"/>
          <p:cNvSpPr txBox="1"/>
          <p:nvPr/>
        </p:nvSpPr>
        <p:spPr>
          <a:xfrm>
            <a:off x="264033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19 / 19</a:t>
            </a:r>
            <a:endParaRPr lang="en-GB" sz="1700" dirty="0"/>
          </a:p>
        </p:txBody>
      </p:sp>
      <p:sp>
        <p:nvSpPr>
          <p:cNvPr id="1022" name="Metric 6 label"/>
          <p:cNvSpPr txBox="1"/>
          <p:nvPr/>
        </p:nvSpPr>
        <p:spPr>
          <a:xfrm>
            <a:off x="264033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Copilot figures traced to tool results</a:t>
            </a:r>
            <a:endParaRPr lang="en-GB" sz="1000" dirty="0"/>
          </a:p>
        </p:txBody>
      </p:sp>
      <p:sp>
        <p:nvSpPr>
          <p:cNvPr id="1023" name="Metric 7"/>
          <p:cNvSpPr/>
          <p:nvPr/>
        </p:nvSpPr>
        <p:spPr>
          <a:xfrm>
            <a:off x="464058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4" name="Metric 7 value"/>
          <p:cNvSpPr txBox="1"/>
          <p:nvPr/>
        </p:nvSpPr>
        <p:spPr>
          <a:xfrm>
            <a:off x="477774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30×</a:t>
            </a:r>
            <a:endParaRPr lang="en-GB" sz="1700" dirty="0"/>
          </a:p>
        </p:txBody>
      </p:sp>
      <p:sp>
        <p:nvSpPr>
          <p:cNvPr id="1025" name="Metric 7 label"/>
          <p:cNvSpPr txBox="1"/>
          <p:nvPr/>
        </p:nvSpPr>
        <p:spPr>
          <a:xfrm>
            <a:off x="477774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plant speed against real time</a:t>
            </a:r>
            <a:endParaRPr lang="en-GB" sz="1000" dirty="0"/>
          </a:p>
        </p:txBody>
      </p:sp>
      <p:sp>
        <p:nvSpPr>
          <p:cNvPr id="1026" name="Metric 8"/>
          <p:cNvSpPr/>
          <p:nvPr/>
        </p:nvSpPr>
        <p:spPr>
          <a:xfrm>
            <a:off x="677799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7" name="Metric 8 value"/>
          <p:cNvSpPr txBox="1"/>
          <p:nvPr/>
        </p:nvSpPr>
        <p:spPr>
          <a:xfrm>
            <a:off x="691515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149</a:t>
            </a:r>
            <a:endParaRPr lang="en-GB" sz="1700" dirty="0"/>
          </a:p>
        </p:txBody>
      </p:sp>
      <p:sp>
        <p:nvSpPr>
          <p:cNvPr id="1028" name="Metric 8 label"/>
          <p:cNvSpPr txBox="1"/>
          <p:nvPr/>
        </p:nvSpPr>
        <p:spPr>
          <a:xfrm>
            <a:off x="691515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Automated tests: 117 unit, 16 E2E, 16 Python</a:t>
            </a:r>
            <a:endParaRPr lang="en-GB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lang="en-GB" sz="1600" dirty="0"/>
          </a:p>
        </p:txBody>
      </p:sp>
      <p:sp>
        <p:nvSpPr>
          <p:cNvPr id="1001" name="Scope card"/>
          <p:cNvSpPr/>
          <p:nvPr/>
        </p:nvSpPr>
        <p:spPr>
          <a:xfrm>
            <a:off x="365760" y="1143000"/>
            <a:ext cx="3063240" cy="3383280"/>
          </a:xfrm>
          <a:prstGeom prst="roundRect">
            <a:avLst>
              <a:gd name="adj" fmla="val 2985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Scope circle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Scope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1410371"/>
            <a:ext cx="215067" cy="215067"/>
          </a:xfrm>
          <a:prstGeom prst="rect">
            <a:avLst/>
          </a:prstGeom>
        </p:spPr>
      </p:pic>
      <p:sp>
        <p:nvSpPr>
          <p:cNvPr id="1004" name="Scope title"/>
          <p:cNvSpPr txBox="1"/>
          <p:nvPr/>
        </p:nvSpPr>
        <p:spPr>
          <a:xfrm>
            <a:off x="1024128" y="13258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Current scope</a:t>
            </a:r>
            <a:endParaRPr lang="en-GB" sz="1300" dirty="0"/>
          </a:p>
        </p:txBody>
      </p:sp>
      <p:sp>
        <p:nvSpPr>
          <p:cNvPr id="1005" name="Scope points"/>
          <p:cNvSpPr txBox="1"/>
          <p:nvPr/>
        </p:nvSpPr>
        <p:spPr>
          <a:xfrm>
            <a:off x="548640" y="1892808"/>
            <a:ext cx="2724912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lang="en-GB" sz="110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Runs on a modelled plant with sample data, so results are estimates.</a:t>
            </a:r>
            <a:endParaRPr lang="en-GB" sz="110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lang="en-GB" sz="110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factory per deployment; state is held per instance.</a:t>
            </a:r>
            <a:endParaRPr lang="en-GB" sz="110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lang="en-GB" sz="110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telemetry arrives through Pub/Sub today; OPC UA, Modbus and MQTT need an edge gateway.</a:t>
            </a:r>
            <a:endParaRPr lang="en-GB" sz="110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lang="en-GB" sz="110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Camera footage in the demo is licensed video of other facilities.</a:t>
            </a:r>
            <a:endParaRPr lang="en-GB" sz="1100" dirty="0"/>
          </a:p>
        </p:txBody>
      </p:sp>
      <p:sp>
        <p:nvSpPr>
          <p:cNvPr id="1006" name="Next title"/>
          <p:cNvSpPr txBox="1"/>
          <p:nvPr/>
        </p:nvSpPr>
        <p:spPr>
          <a:xfrm>
            <a:off x="3657600" y="11430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What comes next</a:t>
            </a:r>
            <a:endParaRPr lang="en-GB" sz="1300" dirty="0"/>
          </a:p>
        </p:txBody>
      </p:sp>
      <p:sp>
        <p:nvSpPr>
          <p:cNvPr id="1007" name="Multi-site circle"/>
          <p:cNvSpPr/>
          <p:nvPr/>
        </p:nvSpPr>
        <p:spPr>
          <a:xfrm>
            <a:off x="3657600" y="1645920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Multi-site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4044" y="1722364"/>
            <a:ext cx="194584" cy="194584"/>
          </a:xfrm>
          <a:prstGeom prst="rect">
            <a:avLst/>
          </a:prstGeom>
        </p:spPr>
      </p:pic>
      <p:sp>
        <p:nvSpPr>
          <p:cNvPr id="1009" name="Multi-site text"/>
          <p:cNvSpPr txBox="1"/>
          <p:nvPr/>
        </p:nvSpPr>
        <p:spPr>
          <a:xfrm>
            <a:off x="4114800" y="1627632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Multi-site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shared state, Firebase Auth sign-in and several factories per tenant.</a:t>
            </a:r>
            <a:endParaRPr lang="en-GB" sz="1050" dirty="0"/>
          </a:p>
        </p:txBody>
      </p:sp>
      <p:sp>
        <p:nvSpPr>
          <p:cNvPr id="1010" name="Plant connectivity circle"/>
          <p:cNvSpPr/>
          <p:nvPr/>
        </p:nvSpPr>
        <p:spPr>
          <a:xfrm>
            <a:off x="6263640" y="1645920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1" name="Plant connectivity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0084" y="1722364"/>
            <a:ext cx="194584" cy="194584"/>
          </a:xfrm>
          <a:prstGeom prst="rect">
            <a:avLst/>
          </a:prstGeom>
        </p:spPr>
      </p:pic>
      <p:sp>
        <p:nvSpPr>
          <p:cNvPr id="1012" name="Plant connectivity text"/>
          <p:cNvSpPr txBox="1"/>
          <p:nvPr/>
        </p:nvSpPr>
        <p:spPr>
          <a:xfrm>
            <a:off x="6720840" y="1627632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Plant connectivity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Edge gateway for OPC UA, Modbus and MQTT into Pub/Sub; camera analytics at the edge.</a:t>
            </a:r>
            <a:endParaRPr lang="en-GB" sz="1050" dirty="0"/>
          </a:p>
        </p:txBody>
      </p:sp>
      <p:sp>
        <p:nvSpPr>
          <p:cNvPr id="1013" name="Server-side clock circle"/>
          <p:cNvSpPr/>
          <p:nvPr/>
        </p:nvSpPr>
        <p:spPr>
          <a:xfrm>
            <a:off x="3657600" y="2706624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4" name="Server-side clock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044" y="2783068"/>
            <a:ext cx="194584" cy="194584"/>
          </a:xfrm>
          <a:prstGeom prst="rect">
            <a:avLst/>
          </a:prstGeom>
        </p:spPr>
      </p:pic>
      <p:sp>
        <p:nvSpPr>
          <p:cNvPr id="1015" name="Server-side clock text"/>
          <p:cNvSpPr txBox="1"/>
          <p:nvPr/>
        </p:nvSpPr>
        <p:spPr>
          <a:xfrm>
            <a:off x="4114800" y="2688336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Server-side clock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Scheduler drives the plant clock, with no instance cap.</a:t>
            </a:r>
            <a:endParaRPr lang="en-GB" sz="1050" dirty="0"/>
          </a:p>
        </p:txBody>
      </p:sp>
      <p:sp>
        <p:nvSpPr>
          <p:cNvPr id="1016" name="Smarter Twin Builder circle"/>
          <p:cNvSpPr/>
          <p:nvPr/>
        </p:nvSpPr>
        <p:spPr>
          <a:xfrm>
            <a:off x="6263640" y="2706624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7" name="Smarter Twin Builder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084" y="2783068"/>
            <a:ext cx="194584" cy="194584"/>
          </a:xfrm>
          <a:prstGeom prst="rect">
            <a:avLst/>
          </a:prstGeom>
        </p:spPr>
      </p:pic>
      <p:sp>
        <p:nvSpPr>
          <p:cNvPr id="1018" name="Smarter Twin Builder text"/>
          <p:cNvSpPr txBox="1"/>
          <p:nvPr/>
        </p:nvSpPr>
        <p:spPr>
          <a:xfrm>
            <a:off x="6720840" y="2688336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Smarter Twin Builder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self-correction loop on ADK; Agent Engine hosting for the Python agent.</a:t>
            </a:r>
            <a:endParaRPr lang="en-GB" sz="1050" dirty="0"/>
          </a:p>
        </p:txBody>
      </p:sp>
      <p:sp>
        <p:nvSpPr>
          <p:cNvPr id="1019" name="Learned inspection circle"/>
          <p:cNvSpPr/>
          <p:nvPr/>
        </p:nvSpPr>
        <p:spPr>
          <a:xfrm>
            <a:off x="3657600" y="3767328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20" name="Learned inspection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4044" y="3843772"/>
            <a:ext cx="194584" cy="194584"/>
          </a:xfrm>
          <a:prstGeom prst="rect">
            <a:avLst/>
          </a:prstGeom>
        </p:spPr>
      </p:pic>
      <p:sp>
        <p:nvSpPr>
          <p:cNvPr id="1021" name="Learned inspection text"/>
          <p:cNvSpPr txBox="1"/>
          <p:nvPr/>
        </p:nvSpPr>
        <p:spPr>
          <a:xfrm>
            <a:off x="4114800" y="374904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Learned inspection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Trained inspection models, validated with a measurement-system study before use.</a:t>
            </a:r>
            <a:endParaRPr lang="en-GB" sz="1050" dirty="0"/>
          </a:p>
        </p:txBody>
      </p:sp>
      <p:sp>
        <p:nvSpPr>
          <p:cNvPr id="1022" name="Agent-to-agent circle"/>
          <p:cNvSpPr/>
          <p:nvPr/>
        </p:nvSpPr>
        <p:spPr>
          <a:xfrm>
            <a:off x="6263640" y="3767328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23" name="Agent-to-agent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0084" y="3843772"/>
            <a:ext cx="194584" cy="194584"/>
          </a:xfrm>
          <a:prstGeom prst="rect">
            <a:avLst/>
          </a:prstGeom>
        </p:spPr>
      </p:pic>
      <p:sp>
        <p:nvSpPr>
          <p:cNvPr id="1024" name="Agent-to-agent text"/>
          <p:cNvSpPr txBox="1"/>
          <p:nvPr/>
        </p:nvSpPr>
        <p:spPr>
          <a:xfrm>
            <a:off x="6720840" y="374904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Agent-to-agent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 A2A endpoint so enterprise agents can delegate work to TwinForge.</a:t>
            </a:r>
            <a:endParaRPr lang="en-GB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lang="en-GB" sz="1600" dirty="0"/>
          </a:p>
        </p:txBody>
      </p:sp>
      <p:sp>
        <p:nvSpPr>
          <p:cNvPr id="1001" name="GitHub Public Repository card"/>
          <p:cNvSpPr/>
          <p:nvPr/>
        </p:nvSpPr>
        <p:spPr>
          <a:xfrm>
            <a:off x="365760" y="12344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GitHub Public Repository circle"/>
          <p:cNvSpPr/>
          <p:nvPr/>
        </p:nvSpPr>
        <p:spPr>
          <a:xfrm>
            <a:off x="566928" y="1417320"/>
            <a:ext cx="502920" cy="502920"/>
          </a:xfrm>
          <a:prstGeom prst="ellipse">
            <a:avLst/>
          </a:prstGeom>
          <a:solidFill>
            <a:srgbClr val="20212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GitHub Public Repository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" y="1527962"/>
            <a:ext cx="281635" cy="281635"/>
          </a:xfrm>
          <a:prstGeom prst="rect">
            <a:avLst/>
          </a:prstGeom>
        </p:spPr>
      </p:pic>
      <p:sp>
        <p:nvSpPr>
          <p:cNvPr id="1004" name="GitHub Public Repository label"/>
          <p:cNvSpPr txBox="1"/>
          <p:nvPr/>
        </p:nvSpPr>
        <p:spPr>
          <a:xfrm>
            <a:off x="1280160" y="134416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GitHub Public Repository</a:t>
            </a:r>
            <a:endParaRPr lang="en-GB" sz="1200" dirty="0"/>
          </a:p>
        </p:txBody>
      </p:sp>
      <p:sp>
        <p:nvSpPr>
          <p:cNvPr id="1005" name="GitHub Public Repository link"/>
          <p:cNvSpPr txBox="1"/>
          <p:nvPr/>
        </p:nvSpPr>
        <p:spPr>
          <a:xfrm>
            <a:off x="1280160" y="1655064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https://github.com/The-OWLabs/twin-forge-ai</a:t>
            </a:r>
            <a:endParaRPr lang="en-GB" sz="1300" dirty="0"/>
          </a:p>
        </p:txBody>
      </p:sp>
      <p:sp>
        <p:nvSpPr>
          <p:cNvPr id="1006" name="Demo Video Link (3 Minutes) card"/>
          <p:cNvSpPr/>
          <p:nvPr/>
        </p:nvSpPr>
        <p:spPr>
          <a:xfrm>
            <a:off x="365760" y="225856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CE8E6"/>
          </a:solidFill>
          <a:ln w="12700">
            <a:solidFill>
              <a:srgbClr val="C5221F"/>
            </a:solidFill>
            <a:prstDash val="dash"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7" name="Demo Video Link (3 Minutes) circle"/>
          <p:cNvSpPr/>
          <p:nvPr/>
        </p:nvSpPr>
        <p:spPr>
          <a:xfrm>
            <a:off x="566928" y="2441448"/>
            <a:ext cx="502920" cy="502920"/>
          </a:xfrm>
          <a:prstGeom prst="ellipse">
            <a:avLst/>
          </a:prstGeom>
          <a:solidFill>
            <a:srgbClr val="C5221F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Demo Video Link (3 Minutes)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" y="2552090"/>
            <a:ext cx="281635" cy="281635"/>
          </a:xfrm>
          <a:prstGeom prst="rect">
            <a:avLst/>
          </a:prstGeom>
        </p:spPr>
      </p:pic>
      <p:sp>
        <p:nvSpPr>
          <p:cNvPr id="1009" name="Demo Video Link (3 Minutes) label"/>
          <p:cNvSpPr txBox="1"/>
          <p:nvPr/>
        </p:nvSpPr>
        <p:spPr>
          <a:xfrm>
            <a:off x="1280160" y="2368296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Video Link (3 Minutes)</a:t>
            </a:r>
            <a:endParaRPr lang="en-GB" sz="1200" dirty="0"/>
          </a:p>
        </p:txBody>
      </p:sp>
      <p:sp>
        <p:nvSpPr>
          <p:cNvPr id="1010" name="Demo Video Link (3 Minutes) link"/>
          <p:cNvSpPr txBox="1"/>
          <p:nvPr/>
        </p:nvSpPr>
        <p:spPr>
          <a:xfrm>
            <a:off x="1280160" y="267919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C522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 the public YouTube, Vimeo or Google Drive link before submitting</a:t>
            </a:r>
            <a:endParaRPr lang="en-GB" sz="1300" dirty="0"/>
          </a:p>
        </p:txBody>
      </p:sp>
      <p:sp>
        <p:nvSpPr>
          <p:cNvPr id="1011" name="Final Product Link card"/>
          <p:cNvSpPr/>
          <p:nvPr/>
        </p:nvSpPr>
        <p:spPr>
          <a:xfrm>
            <a:off x="365760" y="3282696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Final Product Link circle"/>
          <p:cNvSpPr/>
          <p:nvPr/>
        </p:nvSpPr>
        <p:spPr>
          <a:xfrm>
            <a:off x="566928" y="3465576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3" name="Final Product Link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" y="3576218"/>
            <a:ext cx="281635" cy="281635"/>
          </a:xfrm>
          <a:prstGeom prst="rect">
            <a:avLst/>
          </a:prstGeom>
        </p:spPr>
      </p:pic>
      <p:sp>
        <p:nvSpPr>
          <p:cNvPr id="1014" name="Final Product Link label"/>
          <p:cNvSpPr txBox="1"/>
          <p:nvPr/>
        </p:nvSpPr>
        <p:spPr>
          <a:xfrm>
            <a:off x="1280160" y="339242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Final Product Link</a:t>
            </a:r>
            <a:endParaRPr lang="en-GB" sz="1200" dirty="0"/>
          </a:p>
        </p:txBody>
      </p:sp>
      <p:sp>
        <p:nvSpPr>
          <p:cNvPr id="1015" name="Final Product Link link"/>
          <p:cNvSpPr txBox="1"/>
          <p:nvPr/>
        </p:nvSpPr>
        <p:spPr>
          <a:xfrm>
            <a:off x="1280160" y="3703320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9"/>
              </a:rPr>
              <a:t>https://twinforge--twin-forge.asia-southeast1.hosted.app</a:t>
            </a:r>
            <a:endParaRPr lang="en-GB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